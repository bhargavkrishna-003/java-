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68" r:id="rId15"/>
    <p:sldId id="270" r:id="rId16"/>
  </p:sldIdLst>
  <p:sldSz cx="12192000" cy="6858000"/>
  <p:notesSz cx="6858000" cy="12192000"/>
  <p:embeddedFontLst>
    <p:embeddedFont>
      <p:font typeface="Bitter" panose="020B0604020202020204" charset="0"/>
      <p:regular r:id="rId18"/>
    </p:embeddedFont>
    <p:embeddedFont>
      <p:font typeface="Bitter Bold" panose="020B0604020202020204" charset="0"/>
      <p:regular r:id="rId19"/>
    </p:embeddedFont>
    <p:embeddedFont>
      <p:font typeface="Consolas" panose="020B0609020204030204" pitchFamily="49" charset="0"/>
      <p:regular r:id="rId20"/>
      <p:bold r:id="rId21"/>
      <p:italic r:id="rId22"/>
      <p:boldItalic r:id="rId23"/>
    </p:embeddedFont>
    <p:embeddedFont>
      <p:font typeface="Outfit Bold" panose="020B0604020202020204" charset="0"/>
      <p:regular r:id="rId2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8" d="100"/>
          <a:sy n="98" d="100"/>
        </p:scale>
        <p:origin x="82" y="17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8450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array holds a fixed number of values of one type. Here each index is one ATM transaction. The for loop runs from 0 to length minus one and prints each amount.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OOP keeps the ATM easy to extend: new account types inherit BankAccount and only override what differs.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1C1D1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42000"/>
            </a:srgbClr>
          </a:solidFill>
          <a:ln/>
        </p:spPr>
      </p:sp>
      <p:pic>
        <p:nvPicPr>
          <p:cNvPr id="4"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1C1D1F"/>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master 3">
    <p:bg>
      <p:bgPr>
        <a:solidFill>
          <a:srgbClr val="1C1D1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38000"/>
            </a:srgbClr>
          </a:solidFill>
          <a:ln/>
        </p:spPr>
      </p:sp>
      <p:pic>
        <p:nvPicPr>
          <p:cNvPr id="4"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88065" y="246830"/>
            <a:ext cx="8374349" cy="6492677"/>
          </a:xfrm>
          <a:prstGeom prst="roundRect">
            <a:avLst>
              <a:gd name="adj" fmla="val 411"/>
            </a:avLst>
          </a:prstGeom>
          <a:solidFill>
            <a:srgbClr val="404238"/>
          </a:solidFill>
          <a:ln/>
        </p:spPr>
      </p:sp>
      <p:sp>
        <p:nvSpPr>
          <p:cNvPr id="3" name="Text 1"/>
          <p:cNvSpPr/>
          <p:nvPr/>
        </p:nvSpPr>
        <p:spPr>
          <a:xfrm>
            <a:off x="1094455" y="538262"/>
            <a:ext cx="8171154"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FFFFFF"/>
                </a:solidFill>
                <a:latin typeface="Bitter" pitchFamily="34" charset="0"/>
                <a:ea typeface="Bitter" pitchFamily="34" charset="-122"/>
                <a:cs typeface="Bitter" pitchFamily="34" charset="-120"/>
              </a:rPr>
              <a:t>JAVA APPLICATION PROJECT</a:t>
            </a:r>
            <a:endParaRPr lang="en-US" sz="1050" dirty="0"/>
          </a:p>
        </p:txBody>
      </p:sp>
      <p:sp>
        <p:nvSpPr>
          <p:cNvPr id="4" name="Text 2"/>
          <p:cNvSpPr/>
          <p:nvPr/>
        </p:nvSpPr>
        <p:spPr>
          <a:xfrm>
            <a:off x="1094455" y="872756"/>
            <a:ext cx="7561569" cy="1905000"/>
          </a:xfrm>
          <a:prstGeom prst="rect">
            <a:avLst/>
          </a:prstGeom>
          <a:noFill/>
          <a:ln/>
        </p:spPr>
        <p:txBody>
          <a:bodyPr wrap="square" lIns="0" tIns="0" rIns="0" bIns="0" rtlCol="0" anchor="t">
            <a:normAutofit/>
          </a:bodyPr>
          <a:lstStyle/>
          <a:p>
            <a:pPr marL="0" indent="0" algn="l">
              <a:lnSpc>
                <a:spcPct val="83000"/>
              </a:lnSpc>
              <a:buNone/>
            </a:pPr>
            <a:r>
              <a:rPr lang="en-US" sz="5000" b="1" dirty="0">
                <a:solidFill>
                  <a:srgbClr val="FFFFFF"/>
                </a:solidFill>
                <a:latin typeface="Outfit Bold" pitchFamily="34" charset="0"/>
                <a:ea typeface="Outfit Bold" pitchFamily="34" charset="-122"/>
                <a:cs typeface="Outfit Bold" pitchFamily="34" charset="-120"/>
              </a:rPr>
              <a:t>ATM Transaction</a:t>
            </a:r>
            <a:endParaRPr lang="en-US" sz="5000" dirty="0"/>
          </a:p>
          <a:p>
            <a:pPr marL="0" indent="0" algn="l">
              <a:lnSpc>
                <a:spcPct val="83000"/>
              </a:lnSpc>
              <a:buNone/>
            </a:pPr>
            <a:r>
              <a:rPr lang="en-US" sz="5000" b="1" dirty="0">
                <a:solidFill>
                  <a:srgbClr val="FFFFFF"/>
                </a:solidFill>
                <a:latin typeface="Outfit Bold" pitchFamily="34" charset="0"/>
                <a:ea typeface="Outfit Bold" pitchFamily="34" charset="-122"/>
                <a:cs typeface="Outfit Bold" pitchFamily="34" charset="-120"/>
              </a:rPr>
              <a:t>Management System</a:t>
            </a:r>
            <a:endParaRPr lang="en-US" sz="5000" dirty="0"/>
          </a:p>
          <a:p>
            <a:pPr marL="0" indent="0" algn="l">
              <a:lnSpc>
                <a:spcPct val="83000"/>
              </a:lnSpc>
              <a:buNone/>
            </a:pPr>
            <a:r>
              <a:rPr lang="en-US" sz="5000" b="1" dirty="0">
                <a:solidFill>
                  <a:srgbClr val="FFFFFF"/>
                </a:solidFill>
                <a:latin typeface="Outfit Bold" pitchFamily="34" charset="0"/>
                <a:ea typeface="Outfit Bold" pitchFamily="34" charset="-122"/>
                <a:cs typeface="Outfit Bold" pitchFamily="34" charset="-120"/>
              </a:rPr>
              <a:t>Using Java</a:t>
            </a:r>
          </a:p>
          <a:p>
            <a:pPr marL="0" indent="0" algn="l">
              <a:lnSpc>
                <a:spcPct val="83000"/>
              </a:lnSpc>
              <a:buNone/>
            </a:pPr>
            <a:endParaRPr lang="en-US" sz="5000" dirty="0"/>
          </a:p>
        </p:txBody>
      </p:sp>
      <p:sp>
        <p:nvSpPr>
          <p:cNvPr id="5" name="Text 3"/>
          <p:cNvSpPr/>
          <p:nvPr/>
        </p:nvSpPr>
        <p:spPr>
          <a:xfrm>
            <a:off x="1094455" y="2880717"/>
            <a:ext cx="7561569" cy="2004104"/>
          </a:xfrm>
          <a:prstGeom prst="rect">
            <a:avLst/>
          </a:prstGeom>
          <a:noFill/>
          <a:ln/>
        </p:spPr>
        <p:txBody>
          <a:bodyPr wrap="square" lIns="0" tIns="0" rIns="0" bIns="0" rtlCol="0" anchor="t">
            <a:normAutofit fontScale="70000" lnSpcReduction="20000"/>
          </a:bodyPr>
          <a:lstStyle/>
          <a:p>
            <a:pPr marL="0" indent="0" algn="l">
              <a:lnSpc>
                <a:spcPct val="117000"/>
              </a:lnSpc>
              <a:spcAft>
                <a:spcPts val="1200"/>
              </a:spcAft>
              <a:buNone/>
            </a:pPr>
            <a:r>
              <a:rPr lang="en-US" sz="1600" b="1" dirty="0">
                <a:solidFill>
                  <a:srgbClr val="FFFFFF"/>
                </a:solidFill>
                <a:latin typeface="Bitter" pitchFamily="34" charset="0"/>
                <a:ea typeface="Bitter" pitchFamily="34" charset="-122"/>
                <a:cs typeface="Bitter" pitchFamily="34" charset="-120"/>
              </a:rPr>
              <a:t>An educational ATM simulation for balances, deposits, withdrawals, PIN verification, and transaction records.</a:t>
            </a:r>
            <a:br>
              <a:rPr lang="en-US" sz="1600" b="1" dirty="0">
                <a:solidFill>
                  <a:srgbClr val="FFFFFF"/>
                </a:solidFill>
                <a:latin typeface="Bitter" pitchFamily="34" charset="0"/>
                <a:ea typeface="Bitter" pitchFamily="34" charset="-122"/>
                <a:cs typeface="Bitter" pitchFamily="34" charset="-120"/>
              </a:rPr>
            </a:br>
            <a:br>
              <a:rPr lang="en-US" sz="1600" b="1" dirty="0">
                <a:solidFill>
                  <a:srgbClr val="FFFFFF"/>
                </a:solidFill>
                <a:latin typeface="Bitter" pitchFamily="34" charset="0"/>
                <a:ea typeface="Bitter" pitchFamily="34" charset="-122"/>
                <a:cs typeface="Bitter" pitchFamily="34" charset="-120"/>
              </a:rPr>
            </a:br>
            <a:r>
              <a:rPr lang="en-US" sz="1600" b="1" dirty="0">
                <a:solidFill>
                  <a:srgbClr val="FFFFFF"/>
                </a:solidFill>
                <a:latin typeface="Bitter" pitchFamily="34" charset="0"/>
                <a:ea typeface="Bitter" pitchFamily="34" charset="-122"/>
                <a:cs typeface="Bitter" pitchFamily="34" charset="-120"/>
              </a:rPr>
              <a:t>GROUP 11</a:t>
            </a:r>
            <a:endParaRPr lang="en-US" sz="1600" b="1" dirty="0"/>
          </a:p>
          <a:p>
            <a:pPr marL="0" indent="0" algn="l">
              <a:lnSpc>
                <a:spcPct val="117000"/>
              </a:lnSpc>
              <a:spcAft>
                <a:spcPts val="1200"/>
              </a:spcAft>
              <a:buNone/>
            </a:pPr>
            <a:r>
              <a:rPr lang="en-US" sz="1600" b="1" dirty="0">
                <a:solidFill>
                  <a:srgbClr val="FFFFFF"/>
                </a:solidFill>
                <a:latin typeface="Bitter" pitchFamily="34" charset="0"/>
                <a:ea typeface="Bitter" pitchFamily="34" charset="-122"/>
                <a:cs typeface="Bitter" pitchFamily="34" charset="-120"/>
              </a:rPr>
              <a:t>Team Members:</a:t>
            </a:r>
            <a:endParaRPr lang="en-US" sz="1600" b="1" dirty="0"/>
          </a:p>
          <a:p>
            <a:pPr marL="0" indent="0" algn="l">
              <a:lnSpc>
                <a:spcPct val="117000"/>
              </a:lnSpc>
              <a:spcAft>
                <a:spcPts val="1200"/>
              </a:spcAft>
              <a:buNone/>
            </a:pPr>
            <a:r>
              <a:rPr lang="en-US" sz="1600" b="1" i="1" u="sng" dirty="0">
                <a:solidFill>
                  <a:srgbClr val="FFFFFF"/>
                </a:solidFill>
                <a:latin typeface="Bitter" pitchFamily="34" charset="0"/>
              </a:rPr>
              <a:t>2620080037- Datla Harshith Varma</a:t>
            </a:r>
            <a:endParaRPr lang="en-US" sz="1600" b="1" i="1" u="sng" dirty="0"/>
          </a:p>
          <a:p>
            <a:pPr marL="0" indent="0" algn="l">
              <a:lnSpc>
                <a:spcPct val="117000"/>
              </a:lnSpc>
              <a:buNone/>
            </a:pPr>
            <a:r>
              <a:rPr lang="en-US" sz="1600" b="1" i="1" u="sng" dirty="0">
                <a:solidFill>
                  <a:srgbClr val="FFFFFF"/>
                </a:solidFill>
                <a:latin typeface="Bitter" pitchFamily="34" charset="0"/>
              </a:rPr>
              <a:t>2620030138- </a:t>
            </a:r>
            <a:r>
              <a:rPr lang="en-US" sz="1600" b="1" i="1" u="sng" dirty="0" err="1">
                <a:solidFill>
                  <a:srgbClr val="FFFFFF"/>
                </a:solidFill>
                <a:latin typeface="Bitter" pitchFamily="34" charset="0"/>
              </a:rPr>
              <a:t>Vemulapally</a:t>
            </a:r>
            <a:r>
              <a:rPr lang="en-US" sz="1600" b="1" i="1" u="sng" dirty="0">
                <a:solidFill>
                  <a:srgbClr val="FFFFFF"/>
                </a:solidFill>
                <a:latin typeface="Bitter" pitchFamily="34" charset="0"/>
              </a:rPr>
              <a:t> Bhargav Krishna</a:t>
            </a:r>
          </a:p>
          <a:p>
            <a:pPr marL="0" indent="0" algn="l">
              <a:lnSpc>
                <a:spcPct val="117000"/>
              </a:lnSpc>
              <a:buNone/>
            </a:pPr>
            <a:endParaRPr lang="en-US" sz="1600" b="1" i="1" u="sng" dirty="0">
              <a:solidFill>
                <a:srgbClr val="FFFFFF"/>
              </a:solidFill>
              <a:latin typeface="Bitter" pitchFamily="34" charset="0"/>
            </a:endParaRPr>
          </a:p>
          <a:p>
            <a:pPr marL="0" indent="0" algn="l">
              <a:lnSpc>
                <a:spcPct val="117000"/>
              </a:lnSpc>
              <a:buNone/>
            </a:pPr>
            <a:r>
              <a:rPr lang="en-US" sz="1600" b="1" i="1" u="sng" dirty="0">
                <a:solidFill>
                  <a:srgbClr val="FFFFFF"/>
                </a:solidFill>
                <a:latin typeface="Bitter" pitchFamily="34" charset="0"/>
              </a:rPr>
              <a:t>2620040017- </a:t>
            </a:r>
            <a:r>
              <a:rPr lang="en-US" sz="1600" b="1" i="1" u="sng" dirty="0" err="1">
                <a:solidFill>
                  <a:srgbClr val="FFFFFF"/>
                </a:solidFill>
                <a:latin typeface="Bitter" pitchFamily="34" charset="0"/>
              </a:rPr>
              <a:t>Prathigadapa</a:t>
            </a:r>
            <a:r>
              <a:rPr lang="en-US" sz="1600" b="1" i="1" u="sng" dirty="0">
                <a:solidFill>
                  <a:srgbClr val="FFFFFF"/>
                </a:solidFill>
                <a:latin typeface="Bitter" pitchFamily="34" charset="0"/>
              </a:rPr>
              <a:t> Aditya</a:t>
            </a:r>
            <a:endParaRPr lang="en-US" sz="1600" b="1" i="1" u="sng"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09585" y="1617085"/>
            <a:ext cx="10972526" cy="670520"/>
          </a:xfrm>
          <a:prstGeom prst="rect">
            <a:avLst/>
          </a:prstGeom>
          <a:noFill/>
          <a:ln/>
        </p:spPr>
        <p:txBody>
          <a:bodyPr wrap="none" lIns="0" tIns="0" rIns="0" bIns="0" rtlCol="0" anchor="t"/>
          <a:lstStyle/>
          <a:p>
            <a:pPr marL="0" indent="0" algn="l">
              <a:lnSpc>
                <a:spcPct val="92000"/>
              </a:lnSpc>
              <a:buNone/>
            </a:pPr>
            <a:r>
              <a:rPr lang="en-US" sz="4800" b="1" dirty="0">
                <a:solidFill>
                  <a:srgbClr val="E1E5CD"/>
                </a:solidFill>
                <a:latin typeface="Outfit Bold" pitchFamily="34" charset="0"/>
                <a:ea typeface="Outfit Bold" pitchFamily="34" charset="-122"/>
                <a:cs typeface="Outfit Bold" pitchFamily="34" charset="-120"/>
              </a:rPr>
              <a:t>ABSTRACT/OVERVIEW</a:t>
            </a:r>
            <a:endParaRPr lang="en-US" sz="4800" dirty="0"/>
          </a:p>
        </p:txBody>
      </p:sp>
      <p:sp>
        <p:nvSpPr>
          <p:cNvPr id="3" name="Text 1"/>
          <p:cNvSpPr/>
          <p:nvPr/>
        </p:nvSpPr>
        <p:spPr>
          <a:xfrm>
            <a:off x="609585" y="2477095"/>
            <a:ext cx="10972526" cy="2805906"/>
          </a:xfrm>
          <a:prstGeom prst="rect">
            <a:avLst/>
          </a:prstGeom>
          <a:noFill/>
          <a:ln/>
        </p:spPr>
        <p:txBody>
          <a:bodyPr wrap="square" lIns="0" tIns="0" rIns="0" bIns="0" rtlCol="0" anchor="t">
            <a:normAutofit/>
          </a:bodyPr>
          <a:lstStyle/>
          <a:p>
            <a:pPr marL="0" indent="0" algn="l">
              <a:lnSpc>
                <a:spcPct val="117000"/>
              </a:lnSpc>
              <a:spcAft>
                <a:spcPts val="1200"/>
              </a:spcAft>
              <a:buNone/>
            </a:pPr>
            <a:r>
              <a:rPr lang="en-US" sz="1400" dirty="0">
                <a:solidFill>
                  <a:srgbClr val="C2C4B5"/>
                </a:solidFill>
                <a:latin typeface="Bitter" pitchFamily="34" charset="0"/>
                <a:ea typeface="Bitter" pitchFamily="34" charset="-122"/>
                <a:cs typeface="Bitter" pitchFamily="34" charset="-120"/>
              </a:rPr>
              <a:t>The </a:t>
            </a:r>
            <a:r>
              <a:rPr lang="en-US" sz="1400" b="1" dirty="0">
                <a:solidFill>
                  <a:srgbClr val="C2C4B5"/>
                </a:solidFill>
                <a:latin typeface="Bitter Bold" pitchFamily="34" charset="0"/>
                <a:ea typeface="Bitter Bold" pitchFamily="34" charset="-122"/>
                <a:cs typeface="Bitter Bold" pitchFamily="34" charset="-120"/>
              </a:rPr>
              <a:t>ATM Transaction Management System using Java</a:t>
            </a:r>
            <a:r>
              <a:rPr lang="en-US" sz="1400" dirty="0">
                <a:solidFill>
                  <a:srgbClr val="C2C4B5"/>
                </a:solidFill>
                <a:latin typeface="Bitter" pitchFamily="34" charset="0"/>
                <a:ea typeface="Bitter" pitchFamily="34" charset="-122"/>
                <a:cs typeface="Bitter" pitchFamily="34" charset="-120"/>
              </a:rPr>
              <a:t> is a simple software application designed to perform basic banking operations. It allows users to check their account balance, deposit money, withdraw money, and view transaction history. The system uses PIN verification to provide basic security and helps manage transactions accurately.</a:t>
            </a:r>
            <a:endParaRPr lang="en-US" sz="1400" dirty="0"/>
          </a:p>
          <a:p>
            <a:pPr marL="0" indent="0" algn="l">
              <a:lnSpc>
                <a:spcPct val="117000"/>
              </a:lnSpc>
              <a:spcAft>
                <a:spcPts val="1200"/>
              </a:spcAft>
              <a:buNone/>
            </a:pPr>
            <a:r>
              <a:rPr lang="en-US" sz="1400" dirty="0">
                <a:solidFill>
                  <a:srgbClr val="C2C4B5"/>
                </a:solidFill>
                <a:latin typeface="Bitter" pitchFamily="34" charset="0"/>
                <a:ea typeface="Bitter" pitchFamily="34" charset="-122"/>
                <a:cs typeface="Bitter" pitchFamily="34" charset="-120"/>
              </a:rPr>
              <a:t>This project demonstrates various Java programming concepts, including primitive and non-primitive data types, loops, conditional statements, arrays, and methods. It also includes advanced concepts such as recursion, method overloading, method overriding, constructors, inheritance, and exception handling. String handling is performed using String, StringBuilder, and String Buffer. File handling helps store transaction records, while collections, lambda expressions, and streams help manage transaction data.</a:t>
            </a:r>
            <a:endParaRPr lang="en-US" sz="1400" dirty="0"/>
          </a:p>
          <a:p>
            <a:pPr marL="0" indent="0" algn="l">
              <a:lnSpc>
                <a:spcPct val="117000"/>
              </a:lnSpc>
              <a:buNone/>
            </a:pPr>
            <a:r>
              <a:rPr lang="en-US" sz="1400" dirty="0">
                <a:solidFill>
                  <a:srgbClr val="C2C4B5"/>
                </a:solidFill>
                <a:latin typeface="Bitter" pitchFamily="34" charset="0"/>
                <a:ea typeface="Bitter" pitchFamily="34" charset="-122"/>
                <a:cs typeface="Bitter" pitchFamily="34" charset="-120"/>
              </a:rPr>
              <a:t>The main objective of this project is to understand how Java concepts are used in a real-world application. It provides practical programming experience and can be improved in the future by adding database connectivity, a graphical user interface, and enhanced security features.</a:t>
            </a:r>
            <a:endParaRPr lang="en-US" sz="1400" dirty="0"/>
          </a:p>
        </p:txBody>
      </p:sp>
      <p:sp>
        <p:nvSpPr>
          <p:cNvPr id="4" name="Text 2"/>
          <p:cNvSpPr/>
          <p:nvPr/>
        </p:nvSpPr>
        <p:spPr>
          <a:xfrm>
            <a:off x="11941174" y="6466086"/>
            <a:ext cx="250521" cy="174129"/>
          </a:xfrm>
          <a:prstGeom prst="rect">
            <a:avLst/>
          </a:prstGeom>
          <a:noFill/>
          <a:ln/>
        </p:spPr>
        <p:txBody>
          <a:bodyPr wrap="none" lIns="0" tIns="0" rIns="0" bIns="0" rtlCol="0" anchor="ctr"/>
          <a:lstStyle/>
          <a:p>
            <a:pPr marL="0" indent="0" algn="l">
              <a:lnSpc>
                <a:spcPct val="117000"/>
              </a:lnSpc>
              <a:buNone/>
            </a:pPr>
            <a:r>
              <a:rPr lang="en-US" sz="1000" kern="100" spc="39" dirty="0">
                <a:solidFill>
                  <a:srgbClr val="C2C4B5"/>
                </a:solidFill>
                <a:latin typeface="Bitter" pitchFamily="34" charset="0"/>
                <a:ea typeface="Bitter" pitchFamily="34" charset="-122"/>
                <a:cs typeface="Bitter"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9585" y="699907"/>
            <a:ext cx="6502237" cy="1341041"/>
          </a:xfrm>
          <a:prstGeom prst="rect">
            <a:avLst/>
          </a:prstGeom>
          <a:noFill/>
          <a:ln/>
        </p:spPr>
        <p:txBody>
          <a:bodyPr wrap="square" lIns="0" tIns="0" rIns="0" bIns="0" rtlCol="0" anchor="t">
            <a:normAutofit lnSpcReduction="10000"/>
          </a:bodyPr>
          <a:lstStyle/>
          <a:p>
            <a:pPr marL="0" indent="0" algn="l">
              <a:lnSpc>
                <a:spcPct val="92000"/>
              </a:lnSpc>
              <a:buNone/>
            </a:pPr>
            <a:r>
              <a:rPr lang="en-US" sz="4800" b="1" dirty="0">
                <a:solidFill>
                  <a:srgbClr val="E1E5CD"/>
                </a:solidFill>
                <a:latin typeface="Outfit Bold" pitchFamily="34" charset="0"/>
                <a:ea typeface="Outfit Bold" pitchFamily="34" charset="-122"/>
                <a:cs typeface="Outfit Bold" pitchFamily="34" charset="-120"/>
              </a:rPr>
              <a:t>PROBLEM STATEMENT</a:t>
            </a:r>
            <a:endParaRPr lang="en-US" sz="4800" dirty="0"/>
          </a:p>
        </p:txBody>
      </p:sp>
      <p:sp>
        <p:nvSpPr>
          <p:cNvPr id="3" name="Text 1"/>
          <p:cNvSpPr/>
          <p:nvPr/>
        </p:nvSpPr>
        <p:spPr>
          <a:xfrm>
            <a:off x="609585" y="2230438"/>
            <a:ext cx="6502237" cy="1244203"/>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C2C4B5"/>
                </a:solidFill>
                <a:latin typeface="Bitter" pitchFamily="34" charset="0"/>
                <a:ea typeface="Bitter" pitchFamily="34" charset="-122"/>
                <a:cs typeface="Bitter" pitchFamily="34" charset="-120"/>
              </a:rPr>
              <a:t>Managing ATM transactions manually can lead to errors, take more time, and make transaction records difficult to maintain. Therefore, a simple and efficient ATM Transaction Management System is needed to perform banking operations such as PIN verification, balance checking, deposits, withdrawals, and transaction history using Java programming.</a:t>
            </a:r>
            <a:endParaRPr lang="en-US" sz="1400" dirty="0"/>
          </a:p>
        </p:txBody>
      </p:sp>
      <p:sp>
        <p:nvSpPr>
          <p:cNvPr id="4" name="Text 2"/>
          <p:cNvSpPr/>
          <p:nvPr/>
        </p:nvSpPr>
        <p:spPr>
          <a:xfrm>
            <a:off x="609585" y="3792086"/>
            <a:ext cx="6502237" cy="237430"/>
          </a:xfrm>
          <a:prstGeom prst="rect">
            <a:avLst/>
          </a:prstGeom>
          <a:noFill/>
          <a:ln/>
        </p:spPr>
        <p:txBody>
          <a:bodyPr wrap="none" lIns="0" tIns="0" rIns="0" bIns="0" rtlCol="0" anchor="t"/>
          <a:lstStyle/>
          <a:p>
            <a:pPr marL="0" indent="0" algn="l">
              <a:lnSpc>
                <a:spcPct val="92000"/>
              </a:lnSpc>
              <a:buNone/>
            </a:pPr>
            <a:r>
              <a:rPr lang="en-US" sz="1700" b="1" dirty="0">
                <a:solidFill>
                  <a:srgbClr val="E1E5CD"/>
                </a:solidFill>
                <a:latin typeface="Outfit Bold" pitchFamily="34" charset="0"/>
                <a:ea typeface="Outfit Bold" pitchFamily="34" charset="-122"/>
                <a:cs typeface="Outfit Bold" pitchFamily="34" charset="-120"/>
              </a:rPr>
              <a:t>Solution</a:t>
            </a:r>
            <a:endParaRPr lang="en-US" sz="1700" dirty="0"/>
          </a:p>
        </p:txBody>
      </p:sp>
      <p:sp>
        <p:nvSpPr>
          <p:cNvPr id="5" name="Text 3"/>
          <p:cNvSpPr/>
          <p:nvPr/>
        </p:nvSpPr>
        <p:spPr>
          <a:xfrm>
            <a:off x="609585" y="4140696"/>
            <a:ext cx="6502237" cy="2059384"/>
          </a:xfrm>
          <a:prstGeom prst="rect">
            <a:avLst/>
          </a:prstGeom>
          <a:noFill/>
          <a:ln/>
        </p:spPr>
        <p:txBody>
          <a:bodyPr wrap="square" lIns="0" tIns="0" rIns="0" bIns="0" rtlCol="0" anchor="t">
            <a:normAutofit/>
          </a:bodyPr>
          <a:lstStyle/>
          <a:p>
            <a:pPr marL="0" indent="0" algn="l">
              <a:lnSpc>
                <a:spcPct val="117000"/>
              </a:lnSpc>
              <a:spcAft>
                <a:spcPts val="1200"/>
              </a:spcAft>
              <a:buNone/>
            </a:pPr>
            <a:r>
              <a:rPr lang="en-US" sz="1400" dirty="0">
                <a:solidFill>
                  <a:srgbClr val="C2C4B5"/>
                </a:solidFill>
                <a:latin typeface="Bitter" pitchFamily="34" charset="0"/>
                <a:ea typeface="Bitter" pitchFamily="34" charset="-122"/>
                <a:cs typeface="Bitter" pitchFamily="34" charset="-120"/>
              </a:rPr>
              <a:t>The Java-based ATM system allows users to securely verify their PIN, check balances, deposit money, and withdraw money. It maintains transaction history, validates user inputs, and uses Java programming concepts to manage transactions accurately and efficiently.</a:t>
            </a:r>
            <a:endParaRPr lang="en-US" sz="1400" dirty="0"/>
          </a:p>
          <a:p>
            <a:pPr marL="0" indent="0" algn="l">
              <a:lnSpc>
                <a:spcPct val="117000"/>
              </a:lnSpc>
              <a:spcAft>
                <a:spcPts val="1200"/>
              </a:spcAft>
              <a:buNone/>
            </a:pPr>
            <a:r>
              <a:rPr lang="en-US" sz="1400" b="1" dirty="0">
                <a:solidFill>
                  <a:srgbClr val="C2C4B5"/>
                </a:solidFill>
                <a:latin typeface="Bitter Bold" pitchFamily="34" charset="0"/>
                <a:ea typeface="Bitter Bold" pitchFamily="34" charset="-122"/>
                <a:cs typeface="Bitter Bold" pitchFamily="34" charset="-120"/>
              </a:rPr>
              <a:t>History:</a:t>
            </a:r>
            <a:r>
              <a:rPr lang="en-US" sz="1400" dirty="0">
                <a:solidFill>
                  <a:srgbClr val="C2C4B5"/>
                </a:solidFill>
                <a:latin typeface="Bitter" pitchFamily="34" charset="0"/>
                <a:ea typeface="Bitter" pitchFamily="34" charset="-122"/>
                <a:cs typeface="Bitter" pitchFamily="34" charset="-120"/>
              </a:rPr>
              <a:t> Maintain transaction history so users can review previous activity.</a:t>
            </a:r>
            <a:endParaRPr lang="en-US" sz="1400" dirty="0"/>
          </a:p>
          <a:p>
            <a:pPr marL="0" indent="0" algn="l">
              <a:lnSpc>
                <a:spcPct val="117000"/>
              </a:lnSpc>
              <a:buNone/>
            </a:pPr>
            <a:r>
              <a:rPr lang="en-US" sz="1400" dirty="0">
                <a:solidFill>
                  <a:srgbClr val="C2C4B5"/>
                </a:solidFill>
                <a:latin typeface="Bitter" pitchFamily="34" charset="0"/>
                <a:ea typeface="Bitter" pitchFamily="34" charset="-122"/>
                <a:cs typeface="Bitter" pitchFamily="34" charset="-120"/>
              </a:rPr>
              <a:t>ATM flow: PIN verification → menu → transaction validation → updated balance/history.</a:t>
            </a:r>
            <a:endParaRPr lang="en-US" sz="1400" dirty="0"/>
          </a:p>
        </p:txBody>
      </p:sp>
      <p:pic>
        <p:nvPicPr>
          <p:cNvPr id="6" name="Image 0" descr="preencoded.png"/>
          <p:cNvPicPr>
            <a:picLocks noChangeAspect="1"/>
          </p:cNvPicPr>
          <p:nvPr/>
        </p:nvPicPr>
        <p:blipFill>
          <a:blip r:embed="rId3"/>
          <a:stretch>
            <a:fillRect/>
          </a:stretch>
        </p:blipFill>
        <p:spPr>
          <a:xfrm>
            <a:off x="7721407" y="0"/>
            <a:ext cx="4470288" cy="6858000"/>
          </a:xfrm>
          <a:prstGeom prst="rect">
            <a:avLst/>
          </a:prstGeom>
        </p:spPr>
      </p:pic>
      <p:sp>
        <p:nvSpPr>
          <p:cNvPr id="7" name="Text 4"/>
          <p:cNvSpPr/>
          <p:nvPr/>
        </p:nvSpPr>
        <p:spPr>
          <a:xfrm>
            <a:off x="177895" y="6466086"/>
            <a:ext cx="685485" cy="174129"/>
          </a:xfrm>
          <a:prstGeom prst="rect">
            <a:avLst/>
          </a:prstGeom>
          <a:noFill/>
          <a:ln/>
        </p:spPr>
        <p:txBody>
          <a:bodyPr wrap="none" lIns="0" tIns="0" rIns="0" bIns="0" rtlCol="0" anchor="ctr"/>
          <a:lstStyle/>
          <a:p>
            <a:pPr marL="0" indent="0" algn="l">
              <a:lnSpc>
                <a:spcPct val="117000"/>
              </a:lnSpc>
              <a:buNone/>
            </a:pPr>
            <a:r>
              <a:rPr lang="en-US" sz="1000" kern="100" spc="39" dirty="0">
                <a:solidFill>
                  <a:srgbClr val="C2C4B5"/>
                </a:solidFill>
                <a:latin typeface="Bitter" pitchFamily="34" charset="0"/>
                <a:ea typeface="Bitter" pitchFamily="34" charset="-122"/>
                <a:cs typeface="Bitter"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09585" y="609600"/>
            <a:ext cx="11582110"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9FA582"/>
                </a:solidFill>
                <a:latin typeface="Bitter" pitchFamily="34" charset="0"/>
                <a:ea typeface="Bitter" pitchFamily="34" charset="-122"/>
                <a:cs typeface="Bitter" pitchFamily="34" charset="-120"/>
              </a:rPr>
              <a:t>03 · DATA MODEL</a:t>
            </a:r>
            <a:endParaRPr lang="en-US" sz="1050" dirty="0"/>
          </a:p>
        </p:txBody>
      </p:sp>
      <p:sp>
        <p:nvSpPr>
          <p:cNvPr id="3" name="Text 1"/>
          <p:cNvSpPr/>
          <p:nvPr/>
        </p:nvSpPr>
        <p:spPr>
          <a:xfrm>
            <a:off x="609585" y="897478"/>
            <a:ext cx="10972526" cy="446980"/>
          </a:xfrm>
          <a:prstGeom prst="rect">
            <a:avLst/>
          </a:prstGeom>
          <a:noFill/>
          <a:ln/>
        </p:spPr>
        <p:txBody>
          <a:bodyPr wrap="none" lIns="0" tIns="0" rIns="0" bIns="0" rtlCol="0" anchor="t"/>
          <a:lstStyle/>
          <a:p>
            <a:pPr marL="0" indent="0" algn="l">
              <a:lnSpc>
                <a:spcPct val="92000"/>
              </a:lnSpc>
              <a:buNone/>
            </a:pPr>
            <a:r>
              <a:rPr lang="en-US" sz="3200" b="1" dirty="0">
                <a:solidFill>
                  <a:srgbClr val="E1E5CD"/>
                </a:solidFill>
                <a:latin typeface="Outfit Bold" pitchFamily="34" charset="0"/>
                <a:ea typeface="Outfit Bold" pitchFamily="34" charset="-122"/>
                <a:cs typeface="Outfit Bold" pitchFamily="34" charset="-120"/>
              </a:rPr>
              <a:t>Data types give every ATM value the right shape</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09585" y="1494036"/>
          <a:ext cx="10972526" cy="3569008"/>
        </p:xfrm>
        <a:graphic>
          <a:graphicData uri="http://schemas.openxmlformats.org/drawingml/2006/table">
            <a:tbl>
              <a:tblPr/>
              <a:tblGrid>
                <a:gridCol w="2413932">
                  <a:extLst>
                    <a:ext uri="{9D8B030D-6E8A-4147-A177-3AD203B41FA5}">
                      <a16:colId xmlns:a16="http://schemas.microsoft.com/office/drawing/2014/main" val="20000"/>
                    </a:ext>
                  </a:extLst>
                </a:gridCol>
                <a:gridCol w="3072232">
                  <a:extLst>
                    <a:ext uri="{9D8B030D-6E8A-4147-A177-3AD203B41FA5}">
                      <a16:colId xmlns:a16="http://schemas.microsoft.com/office/drawing/2014/main" val="20001"/>
                    </a:ext>
                  </a:extLst>
                </a:gridCol>
                <a:gridCol w="5486362">
                  <a:extLst>
                    <a:ext uri="{9D8B030D-6E8A-4147-A177-3AD203B41FA5}">
                      <a16:colId xmlns:a16="http://schemas.microsoft.com/office/drawing/2014/main" val="20002"/>
                    </a:ext>
                  </a:extLst>
                </a:gridCol>
              </a:tblGrid>
              <a:tr h="397262">
                <a:tc>
                  <a:txBody>
                    <a:bodyPr/>
                    <a:lstStyle/>
                    <a:p>
                      <a:pPr marL="0" indent="0" algn="l">
                        <a:buNone/>
                      </a:pPr>
                      <a:r>
                        <a:rPr lang="en-US" sz="1400" dirty="0">
                          <a:solidFill>
                            <a:srgbClr val="E1E5CD"/>
                          </a:solidFill>
                          <a:latin typeface="Bitter" pitchFamily="34" charset="0"/>
                          <a:ea typeface="Bitter" pitchFamily="34" charset="-122"/>
                          <a:cs typeface="Bitter" pitchFamily="34" charset="-120"/>
                        </a:rPr>
                        <a:t>Type</a:t>
                      </a:r>
                      <a:endParaRPr lang="en-US" sz="1400" dirty="0">
                        <a:latin typeface="Bitter" charset="0"/>
                        <a:ea typeface="Bitter" charset="0"/>
                        <a:cs typeface="Bitter" charset="0"/>
                      </a:endParaRPr>
                    </a:p>
                  </a:txBody>
                  <a:tcPr marL="133347" marR="133347" marT="71118" marB="71118" anchor="ctr">
                    <a:lnL w="12700" cap="flat" cmpd="sng" algn="ctr">
                      <a:solidFill>
                        <a:srgbClr val="1C1D1F"/>
                      </a:solidFill>
                      <a:prstDash val="solid"/>
                      <a:round/>
                      <a:headEnd type="none" w="med" len="med"/>
                      <a:tailEnd type="none" w="med" len="med"/>
                    </a:lnL>
                    <a:lnR w="12700" cap="flat" cmpd="sng" algn="ctr">
                      <a:solidFill>
                        <a:srgbClr val="1C1D1F"/>
                      </a:solidFill>
                      <a:prstDash val="solid"/>
                      <a:round/>
                      <a:headEnd type="none" w="med" len="med"/>
                      <a:tailEnd type="none" w="med" len="med"/>
                    </a:lnR>
                    <a:lnT w="12700" cap="flat" cmpd="sng" algn="ctr">
                      <a:solidFill>
                        <a:srgbClr val="1C1D1F"/>
                      </a:solidFill>
                      <a:prstDash val="solid"/>
                      <a:round/>
                      <a:headEnd type="none" w="med" len="med"/>
                      <a:tailEnd type="none" w="med" len="med"/>
                    </a:lnT>
                    <a:lnB w="12700" cap="flat" cmpd="sng" algn="ctr">
                      <a:solidFill>
                        <a:srgbClr val="525355"/>
                      </a:solidFill>
                      <a:prstDash val="solid"/>
                      <a:round/>
                      <a:headEnd type="none" w="med" len="med"/>
                      <a:tailEnd type="none" w="med" len="med"/>
                    </a:lnB>
                  </a:tcPr>
                </a:tc>
                <a:tc>
                  <a:txBody>
                    <a:bodyPr/>
                    <a:lstStyle/>
                    <a:p>
                      <a:pPr marL="0" indent="0" algn="l">
                        <a:buNone/>
                      </a:pPr>
                      <a:r>
                        <a:rPr lang="en-US" sz="1400" dirty="0">
                          <a:solidFill>
                            <a:srgbClr val="E1E5CD"/>
                          </a:solidFill>
                          <a:latin typeface="Bitter" pitchFamily="34" charset="0"/>
                          <a:ea typeface="Bitter" pitchFamily="34" charset="-122"/>
                          <a:cs typeface="Bitter" pitchFamily="34" charset="-120"/>
                        </a:rPr>
                        <a:t>Example</a:t>
                      </a:r>
                      <a:endParaRPr lang="en-US" sz="1400" dirty="0">
                        <a:latin typeface="Bitter" charset="0"/>
                        <a:ea typeface="Bitter" charset="0"/>
                        <a:cs typeface="Bitter" charset="0"/>
                      </a:endParaRPr>
                    </a:p>
                  </a:txBody>
                  <a:tcPr marL="133347" marR="133347" marT="71118" marB="71118" anchor="ctr">
                    <a:lnL w="12700" cap="flat" cmpd="sng" algn="ctr">
                      <a:solidFill>
                        <a:srgbClr val="1C1D1F"/>
                      </a:solidFill>
                      <a:prstDash val="solid"/>
                      <a:round/>
                      <a:headEnd type="none" w="med" len="med"/>
                      <a:tailEnd type="none" w="med" len="med"/>
                    </a:lnL>
                    <a:lnR w="12700" cap="flat" cmpd="sng" algn="ctr">
                      <a:solidFill>
                        <a:srgbClr val="1C1D1F"/>
                      </a:solidFill>
                      <a:prstDash val="solid"/>
                      <a:round/>
                      <a:headEnd type="none" w="med" len="med"/>
                      <a:tailEnd type="none" w="med" len="med"/>
                    </a:lnR>
                    <a:lnT w="12700" cap="flat" cmpd="sng" algn="ctr">
                      <a:solidFill>
                        <a:srgbClr val="1C1D1F"/>
                      </a:solidFill>
                      <a:prstDash val="solid"/>
                      <a:round/>
                      <a:headEnd type="none" w="med" len="med"/>
                      <a:tailEnd type="none" w="med" len="med"/>
                    </a:lnT>
                    <a:lnB w="12700" cap="flat" cmpd="sng" algn="ctr">
                      <a:solidFill>
                        <a:srgbClr val="525355"/>
                      </a:solidFill>
                      <a:prstDash val="solid"/>
                      <a:round/>
                      <a:headEnd type="none" w="med" len="med"/>
                      <a:tailEnd type="none" w="med" len="med"/>
                    </a:lnB>
                  </a:tcPr>
                </a:tc>
                <a:tc>
                  <a:txBody>
                    <a:bodyPr/>
                    <a:lstStyle/>
                    <a:p>
                      <a:pPr marL="0" indent="0" algn="l">
                        <a:buNone/>
                      </a:pPr>
                      <a:r>
                        <a:rPr lang="en-US" sz="1400" dirty="0">
                          <a:solidFill>
                            <a:srgbClr val="E1E5CD"/>
                          </a:solidFill>
                          <a:latin typeface="Bitter" pitchFamily="34" charset="0"/>
                          <a:ea typeface="Bitter" pitchFamily="34" charset="-122"/>
                          <a:cs typeface="Bitter" pitchFamily="34" charset="-120"/>
                        </a:rPr>
                        <a:t>ATM use</a:t>
                      </a:r>
                      <a:endParaRPr lang="en-US" sz="1400" dirty="0">
                        <a:latin typeface="Bitter" charset="0"/>
                        <a:ea typeface="Bitter" charset="0"/>
                        <a:cs typeface="Bitter" charset="0"/>
                      </a:endParaRPr>
                    </a:p>
                  </a:txBody>
                  <a:tcPr marL="133347" marR="133347" marT="71118" marB="71118" anchor="ctr">
                    <a:lnL w="12700" cap="flat" cmpd="sng" algn="ctr">
                      <a:solidFill>
                        <a:srgbClr val="1C1D1F"/>
                      </a:solidFill>
                      <a:prstDash val="solid"/>
                      <a:round/>
                      <a:headEnd type="none" w="med" len="med"/>
                      <a:tailEnd type="none" w="med" len="med"/>
                    </a:lnL>
                    <a:lnR w="12700" cap="flat" cmpd="sng" algn="ctr">
                      <a:solidFill>
                        <a:srgbClr val="1C1D1F"/>
                      </a:solidFill>
                      <a:prstDash val="solid"/>
                      <a:round/>
                      <a:headEnd type="none" w="med" len="med"/>
                      <a:tailEnd type="none" w="med" len="med"/>
                    </a:lnR>
                    <a:lnT w="12700" cap="flat" cmpd="sng" algn="ctr">
                      <a:solidFill>
                        <a:srgbClr val="1C1D1F"/>
                      </a:solidFill>
                      <a:prstDash val="solid"/>
                      <a:round/>
                      <a:headEnd type="none" w="med" len="med"/>
                      <a:tailEnd type="none" w="med" len="med"/>
                    </a:lnT>
                    <a:lnB w="12700" cap="flat" cmpd="sng" algn="ctr">
                      <a:solidFill>
                        <a:srgbClr val="525355"/>
                      </a:solidFill>
                      <a:prstDash val="solid"/>
                      <a:round/>
                      <a:headEnd type="none" w="med" len="med"/>
                      <a:tailEnd type="none" w="med" len="med"/>
                    </a:lnB>
                  </a:tcPr>
                </a:tc>
                <a:extLst>
                  <a:ext uri="{0D108BD9-81ED-4DB2-BD59-A6C34878D82A}">
                    <a16:rowId xmlns:a16="http://schemas.microsoft.com/office/drawing/2014/main" val="10000"/>
                  </a:ext>
                </a:extLst>
              </a:tr>
              <a:tr h="397262">
                <a:tc>
                  <a:txBody>
                    <a:bodyPr/>
                    <a:lstStyle/>
                    <a:p>
                      <a:pPr marL="0" indent="0" algn="l">
                        <a:buNone/>
                      </a:pPr>
                      <a:r>
                        <a:rPr lang="en-US" sz="1400" b="1" dirty="0">
                          <a:solidFill>
                            <a:srgbClr val="C2C4B5"/>
                          </a:solidFill>
                          <a:latin typeface="Bitter" pitchFamily="34" charset="0"/>
                          <a:ea typeface="Bitter" pitchFamily="34" charset="-122"/>
                          <a:cs typeface="Bitter" pitchFamily="34" charset="-120"/>
                        </a:rPr>
                        <a:t>int</a:t>
                      </a:r>
                      <a:endParaRPr lang="en-US" sz="1400" dirty="0">
                        <a:latin typeface="Bitter" charset="0"/>
                        <a:ea typeface="Bitter" charset="0"/>
                        <a:cs typeface="Bitter" charset="0"/>
                      </a:endParaRPr>
                    </a:p>
                  </a:txBody>
                  <a:tcPr marL="133347" marR="133347" marT="71118" marB="71118" anchor="ctr">
                    <a:lnL w="12700" cap="flat" cmpd="sng" algn="ctr">
                      <a:solidFill>
                        <a:srgbClr val="1C1D1F"/>
                      </a:solidFill>
                      <a:prstDash val="solid"/>
                      <a:round/>
                      <a:headEnd type="none" w="med" len="med"/>
                      <a:tailEnd type="none" w="med" len="med"/>
                    </a:lnL>
                    <a:lnR w="12700" cap="flat" cmpd="sng" algn="ctr">
                      <a:solidFill>
                        <a:srgbClr val="1C1D1F"/>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525355"/>
                      </a:solidFill>
                      <a:prstDash val="solid"/>
                      <a:round/>
                      <a:headEnd type="none" w="med" len="med"/>
                      <a:tailEnd type="none" w="med" len="med"/>
                    </a:lnB>
                  </a:tcPr>
                </a:tc>
                <a:tc>
                  <a:txBody>
                    <a:bodyPr/>
                    <a:lstStyle/>
                    <a:p>
                      <a:pPr marL="0" indent="0" algn="l">
                        <a:buNone/>
                      </a:pPr>
                      <a:r>
                        <a:rPr lang="en-US" sz="1400" dirty="0">
                          <a:solidFill>
                            <a:srgbClr val="C2C4B5"/>
                          </a:solidFill>
                          <a:latin typeface="Bitter" pitchFamily="34" charset="0"/>
                          <a:ea typeface="Bitter" pitchFamily="34" charset="-122"/>
                          <a:cs typeface="Bitter" pitchFamily="34" charset="-120"/>
                        </a:rPr>
                        <a:t>3</a:t>
                      </a:r>
                      <a:endParaRPr lang="en-US" sz="1400" dirty="0">
                        <a:latin typeface="Bitter" charset="0"/>
                        <a:ea typeface="Bitter" charset="0"/>
                        <a:cs typeface="Bitter" charset="0"/>
                      </a:endParaRPr>
                    </a:p>
                  </a:txBody>
                  <a:tcPr marL="133347" marR="133347" marT="71118" marB="71118" anchor="ctr">
                    <a:lnL w="12700" cap="flat" cmpd="sng" algn="ctr">
                      <a:solidFill>
                        <a:srgbClr val="1C1D1F"/>
                      </a:solidFill>
                      <a:prstDash val="solid"/>
                      <a:round/>
                      <a:headEnd type="none" w="med" len="med"/>
                      <a:tailEnd type="none" w="med" len="med"/>
                    </a:lnL>
                    <a:lnR w="12700" cap="flat" cmpd="sng" algn="ctr">
                      <a:solidFill>
                        <a:srgbClr val="1C1D1F"/>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525355"/>
                      </a:solidFill>
                      <a:prstDash val="solid"/>
                      <a:round/>
                      <a:headEnd type="none" w="med" len="med"/>
                      <a:tailEnd type="none" w="med" len="med"/>
                    </a:lnB>
                  </a:tcPr>
                </a:tc>
                <a:tc>
                  <a:txBody>
                    <a:bodyPr/>
                    <a:lstStyle/>
                    <a:p>
                      <a:pPr marL="0" indent="0" algn="l">
                        <a:buNone/>
                      </a:pPr>
                      <a:r>
                        <a:rPr lang="en-US" sz="1400" dirty="0">
                          <a:solidFill>
                            <a:srgbClr val="C2C4B5"/>
                          </a:solidFill>
                          <a:latin typeface="Bitter" pitchFamily="34" charset="0"/>
                          <a:ea typeface="Bitter" pitchFamily="34" charset="-122"/>
                          <a:cs typeface="Bitter" pitchFamily="34" charset="-120"/>
                        </a:rPr>
                        <a:t>PIN attempts or counts</a:t>
                      </a:r>
                      <a:endParaRPr lang="en-US" sz="1400" dirty="0">
                        <a:latin typeface="Bitter" charset="0"/>
                        <a:ea typeface="Bitter" charset="0"/>
                        <a:cs typeface="Bitter" charset="0"/>
                      </a:endParaRPr>
                    </a:p>
                  </a:txBody>
                  <a:tcPr marL="133347" marR="133347" marT="71118" marB="71118" anchor="ctr">
                    <a:lnL w="12700" cap="flat" cmpd="sng" algn="ctr">
                      <a:solidFill>
                        <a:srgbClr val="1C1D1F"/>
                      </a:solidFill>
                      <a:prstDash val="solid"/>
                      <a:round/>
                      <a:headEnd type="none" w="med" len="med"/>
                      <a:tailEnd type="none" w="med" len="med"/>
                    </a:lnL>
                    <a:lnR w="12700" cap="flat" cmpd="sng" algn="ctr">
                      <a:solidFill>
                        <a:srgbClr val="1C1D1F"/>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525355"/>
                      </a:solidFill>
                      <a:prstDash val="solid"/>
                      <a:round/>
                      <a:headEnd type="none" w="med" len="med"/>
                      <a:tailEnd type="none" w="med" len="med"/>
                    </a:lnB>
                  </a:tcPr>
                </a:tc>
                <a:extLst>
                  <a:ext uri="{0D108BD9-81ED-4DB2-BD59-A6C34878D82A}">
                    <a16:rowId xmlns:a16="http://schemas.microsoft.com/office/drawing/2014/main" val="10001"/>
                  </a:ext>
                </a:extLst>
              </a:tr>
              <a:tr h="397262">
                <a:tc>
                  <a:txBody>
                    <a:bodyPr/>
                    <a:lstStyle/>
                    <a:p>
                      <a:pPr marL="0" indent="0" algn="l">
                        <a:buNone/>
                      </a:pPr>
                      <a:r>
                        <a:rPr lang="en-US" sz="1400" b="1" dirty="0">
                          <a:solidFill>
                            <a:srgbClr val="C2C4B5"/>
                          </a:solidFill>
                          <a:latin typeface="Bitter" pitchFamily="34" charset="0"/>
                          <a:ea typeface="Bitter" pitchFamily="34" charset="-122"/>
                          <a:cs typeface="Bitter" pitchFamily="34" charset="-120"/>
                        </a:rPr>
                        <a:t>byte</a:t>
                      </a:r>
                      <a:endParaRPr lang="en-US" sz="1400" dirty="0">
                        <a:latin typeface="Bitter" charset="0"/>
                        <a:ea typeface="Bitter" charset="0"/>
                        <a:cs typeface="Bitter" charset="0"/>
                      </a:endParaRPr>
                    </a:p>
                  </a:txBody>
                  <a:tcPr marL="133347" marR="133347" marT="71118" marB="71118" anchor="ctr">
                    <a:lnL w="12700" cap="flat" cmpd="sng" algn="ctr">
                      <a:solidFill>
                        <a:srgbClr val="1C1D1F"/>
                      </a:solidFill>
                      <a:prstDash val="solid"/>
                      <a:round/>
                      <a:headEnd type="none" w="med" len="med"/>
                      <a:tailEnd type="none" w="med" len="med"/>
                    </a:lnL>
                    <a:lnR w="12700" cap="flat" cmpd="sng" algn="ctr">
                      <a:solidFill>
                        <a:srgbClr val="1C1D1F"/>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525355"/>
                      </a:solidFill>
                      <a:prstDash val="solid"/>
                      <a:round/>
                      <a:headEnd type="none" w="med" len="med"/>
                      <a:tailEnd type="none" w="med" len="med"/>
                    </a:lnB>
                  </a:tcPr>
                </a:tc>
                <a:tc>
                  <a:txBody>
                    <a:bodyPr/>
                    <a:lstStyle/>
                    <a:p>
                      <a:pPr marL="0" indent="0" algn="l">
                        <a:buNone/>
                      </a:pPr>
                      <a:r>
                        <a:rPr lang="en-US" sz="1400" dirty="0">
                          <a:solidFill>
                            <a:srgbClr val="C2C4B5"/>
                          </a:solidFill>
                          <a:latin typeface="Bitter" pitchFamily="34" charset="0"/>
                          <a:ea typeface="Bitter" pitchFamily="34" charset="-122"/>
                          <a:cs typeface="Bitter" pitchFamily="34" charset="-120"/>
                        </a:rPr>
                        <a:t>2</a:t>
                      </a:r>
                      <a:endParaRPr lang="en-US" sz="1400" dirty="0">
                        <a:latin typeface="Bitter" charset="0"/>
                        <a:ea typeface="Bitter" charset="0"/>
                        <a:cs typeface="Bitter" charset="0"/>
                      </a:endParaRPr>
                    </a:p>
                  </a:txBody>
                  <a:tcPr marL="133347" marR="133347" marT="71118" marB="71118" anchor="ctr">
                    <a:lnL w="12700" cap="flat" cmpd="sng" algn="ctr">
                      <a:solidFill>
                        <a:srgbClr val="1C1D1F"/>
                      </a:solidFill>
                      <a:prstDash val="solid"/>
                      <a:round/>
                      <a:headEnd type="none" w="med" len="med"/>
                      <a:tailEnd type="none" w="med" len="med"/>
                    </a:lnL>
                    <a:lnR w="12700" cap="flat" cmpd="sng" algn="ctr">
                      <a:solidFill>
                        <a:srgbClr val="1C1D1F"/>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525355"/>
                      </a:solidFill>
                      <a:prstDash val="solid"/>
                      <a:round/>
                      <a:headEnd type="none" w="med" len="med"/>
                      <a:tailEnd type="none" w="med" len="med"/>
                    </a:lnB>
                  </a:tcPr>
                </a:tc>
                <a:tc>
                  <a:txBody>
                    <a:bodyPr/>
                    <a:lstStyle/>
                    <a:p>
                      <a:pPr marL="0" indent="0" algn="l">
                        <a:buNone/>
                      </a:pPr>
                      <a:r>
                        <a:rPr lang="en-US" sz="1400" dirty="0">
                          <a:solidFill>
                            <a:srgbClr val="C2C4B5"/>
                          </a:solidFill>
                          <a:latin typeface="Bitter" pitchFamily="34" charset="0"/>
                          <a:ea typeface="Bitter" pitchFamily="34" charset="-122"/>
                          <a:cs typeface="Bitter" pitchFamily="34" charset="-120"/>
                        </a:rPr>
                        <a:t>Menu option</a:t>
                      </a:r>
                      <a:endParaRPr lang="en-US" sz="1400" dirty="0">
                        <a:latin typeface="Bitter" charset="0"/>
                        <a:ea typeface="Bitter" charset="0"/>
                        <a:cs typeface="Bitter" charset="0"/>
                      </a:endParaRPr>
                    </a:p>
                  </a:txBody>
                  <a:tcPr marL="133347" marR="133347" marT="71118" marB="71118" anchor="ctr">
                    <a:lnL w="12700" cap="flat" cmpd="sng" algn="ctr">
                      <a:solidFill>
                        <a:srgbClr val="1C1D1F"/>
                      </a:solidFill>
                      <a:prstDash val="solid"/>
                      <a:round/>
                      <a:headEnd type="none" w="med" len="med"/>
                      <a:tailEnd type="none" w="med" len="med"/>
                    </a:lnL>
                    <a:lnR w="12700" cap="flat" cmpd="sng" algn="ctr">
                      <a:solidFill>
                        <a:srgbClr val="1C1D1F"/>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525355"/>
                      </a:solidFill>
                      <a:prstDash val="solid"/>
                      <a:round/>
                      <a:headEnd type="none" w="med" len="med"/>
                      <a:tailEnd type="none" w="med" len="med"/>
                    </a:lnB>
                  </a:tcPr>
                </a:tc>
                <a:extLst>
                  <a:ext uri="{0D108BD9-81ED-4DB2-BD59-A6C34878D82A}">
                    <a16:rowId xmlns:a16="http://schemas.microsoft.com/office/drawing/2014/main" val="10002"/>
                  </a:ext>
                </a:extLst>
              </a:tr>
              <a:tr h="397262">
                <a:tc>
                  <a:txBody>
                    <a:bodyPr/>
                    <a:lstStyle/>
                    <a:p>
                      <a:pPr marL="0" indent="0" algn="l">
                        <a:buNone/>
                      </a:pPr>
                      <a:r>
                        <a:rPr lang="en-US" sz="1400" b="1" dirty="0">
                          <a:solidFill>
                            <a:srgbClr val="C2C4B5"/>
                          </a:solidFill>
                          <a:latin typeface="Bitter" pitchFamily="34" charset="0"/>
                          <a:ea typeface="Bitter" pitchFamily="34" charset="-122"/>
                          <a:cs typeface="Bitter" pitchFamily="34" charset="-120"/>
                        </a:rPr>
                        <a:t>double</a:t>
                      </a:r>
                      <a:endParaRPr lang="en-US" sz="1400" dirty="0">
                        <a:latin typeface="Bitter" charset="0"/>
                        <a:ea typeface="Bitter" charset="0"/>
                        <a:cs typeface="Bitter" charset="0"/>
                      </a:endParaRPr>
                    </a:p>
                  </a:txBody>
                  <a:tcPr marL="133347" marR="133347" marT="71118" marB="71118" anchor="ctr">
                    <a:lnL w="12700" cap="flat" cmpd="sng" algn="ctr">
                      <a:solidFill>
                        <a:srgbClr val="1C1D1F"/>
                      </a:solidFill>
                      <a:prstDash val="solid"/>
                      <a:round/>
                      <a:headEnd type="none" w="med" len="med"/>
                      <a:tailEnd type="none" w="med" len="med"/>
                    </a:lnL>
                    <a:lnR w="12700" cap="flat" cmpd="sng" algn="ctr">
                      <a:solidFill>
                        <a:srgbClr val="1C1D1F"/>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525355"/>
                      </a:solidFill>
                      <a:prstDash val="solid"/>
                      <a:round/>
                      <a:headEnd type="none" w="med" len="med"/>
                      <a:tailEnd type="none" w="med" len="med"/>
                    </a:lnB>
                  </a:tcPr>
                </a:tc>
                <a:tc>
                  <a:txBody>
                    <a:bodyPr/>
                    <a:lstStyle/>
                    <a:p>
                      <a:pPr marL="0" indent="0" algn="l">
                        <a:buNone/>
                      </a:pPr>
                      <a:r>
                        <a:rPr lang="en-US" sz="1400" dirty="0">
                          <a:solidFill>
                            <a:srgbClr val="C2C4B5"/>
                          </a:solidFill>
                          <a:latin typeface="Bitter" pitchFamily="34" charset="0"/>
                          <a:ea typeface="Bitter" pitchFamily="34" charset="-122"/>
                          <a:cs typeface="Bitter" pitchFamily="34" charset="-120"/>
                        </a:rPr>
                        <a:t>250.75</a:t>
                      </a:r>
                      <a:endParaRPr lang="en-US" sz="1400" dirty="0">
                        <a:latin typeface="Bitter" charset="0"/>
                        <a:ea typeface="Bitter" charset="0"/>
                        <a:cs typeface="Bitter" charset="0"/>
                      </a:endParaRPr>
                    </a:p>
                  </a:txBody>
                  <a:tcPr marL="133347" marR="133347" marT="71118" marB="71118" anchor="ctr">
                    <a:lnL w="12700" cap="flat" cmpd="sng" algn="ctr">
                      <a:solidFill>
                        <a:srgbClr val="1C1D1F"/>
                      </a:solidFill>
                      <a:prstDash val="solid"/>
                      <a:round/>
                      <a:headEnd type="none" w="med" len="med"/>
                      <a:tailEnd type="none" w="med" len="med"/>
                    </a:lnL>
                    <a:lnR w="12700" cap="flat" cmpd="sng" algn="ctr">
                      <a:solidFill>
                        <a:srgbClr val="1C1D1F"/>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525355"/>
                      </a:solidFill>
                      <a:prstDash val="solid"/>
                      <a:round/>
                      <a:headEnd type="none" w="med" len="med"/>
                      <a:tailEnd type="none" w="med" len="med"/>
                    </a:lnB>
                  </a:tcPr>
                </a:tc>
                <a:tc>
                  <a:txBody>
                    <a:bodyPr/>
                    <a:lstStyle/>
                    <a:p>
                      <a:pPr marL="0" indent="0" algn="l">
                        <a:buNone/>
                      </a:pPr>
                      <a:r>
                        <a:rPr lang="en-US" sz="1400" dirty="0">
                          <a:solidFill>
                            <a:srgbClr val="C2C4B5"/>
                          </a:solidFill>
                          <a:latin typeface="Bitter" pitchFamily="34" charset="0"/>
                          <a:ea typeface="Bitter" pitchFamily="34" charset="-122"/>
                          <a:cs typeface="Bitter" pitchFamily="34" charset="-120"/>
                        </a:rPr>
                        <a:t>Balance and amounts</a:t>
                      </a:r>
                      <a:endParaRPr lang="en-US" sz="1400" dirty="0">
                        <a:latin typeface="Bitter" charset="0"/>
                        <a:ea typeface="Bitter" charset="0"/>
                        <a:cs typeface="Bitter" charset="0"/>
                      </a:endParaRPr>
                    </a:p>
                  </a:txBody>
                  <a:tcPr marL="133347" marR="133347" marT="71118" marB="71118" anchor="ctr">
                    <a:lnL w="12700" cap="flat" cmpd="sng" algn="ctr">
                      <a:solidFill>
                        <a:srgbClr val="1C1D1F"/>
                      </a:solidFill>
                      <a:prstDash val="solid"/>
                      <a:round/>
                      <a:headEnd type="none" w="med" len="med"/>
                      <a:tailEnd type="none" w="med" len="med"/>
                    </a:lnL>
                    <a:lnR w="12700" cap="flat" cmpd="sng" algn="ctr">
                      <a:solidFill>
                        <a:srgbClr val="1C1D1F"/>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525355"/>
                      </a:solidFill>
                      <a:prstDash val="solid"/>
                      <a:round/>
                      <a:headEnd type="none" w="med" len="med"/>
                      <a:tailEnd type="none" w="med" len="med"/>
                    </a:lnB>
                  </a:tcPr>
                </a:tc>
                <a:extLst>
                  <a:ext uri="{0D108BD9-81ED-4DB2-BD59-A6C34878D82A}">
                    <a16:rowId xmlns:a16="http://schemas.microsoft.com/office/drawing/2014/main" val="10003"/>
                  </a:ext>
                </a:extLst>
              </a:tr>
              <a:tr h="397262">
                <a:tc>
                  <a:txBody>
                    <a:bodyPr/>
                    <a:lstStyle/>
                    <a:p>
                      <a:pPr marL="0" indent="0" algn="l">
                        <a:buNone/>
                      </a:pPr>
                      <a:r>
                        <a:rPr lang="en-US" sz="1400" b="1" dirty="0">
                          <a:solidFill>
                            <a:srgbClr val="C2C4B5"/>
                          </a:solidFill>
                          <a:latin typeface="Bitter" pitchFamily="34" charset="0"/>
                          <a:ea typeface="Bitter" pitchFamily="34" charset="-122"/>
                          <a:cs typeface="Bitter" pitchFamily="34" charset="-120"/>
                        </a:rPr>
                        <a:t>boolean</a:t>
                      </a:r>
                      <a:endParaRPr lang="en-US" sz="1400" dirty="0">
                        <a:latin typeface="Bitter" charset="0"/>
                        <a:ea typeface="Bitter" charset="0"/>
                        <a:cs typeface="Bitter" charset="0"/>
                      </a:endParaRPr>
                    </a:p>
                  </a:txBody>
                  <a:tcPr marL="133347" marR="133347" marT="71118" marB="71118" anchor="ctr">
                    <a:lnL w="12700" cap="flat" cmpd="sng" algn="ctr">
                      <a:solidFill>
                        <a:srgbClr val="1C1D1F"/>
                      </a:solidFill>
                      <a:prstDash val="solid"/>
                      <a:round/>
                      <a:headEnd type="none" w="med" len="med"/>
                      <a:tailEnd type="none" w="med" len="med"/>
                    </a:lnL>
                    <a:lnR w="12700" cap="flat" cmpd="sng" algn="ctr">
                      <a:solidFill>
                        <a:srgbClr val="1C1D1F"/>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525355"/>
                      </a:solidFill>
                      <a:prstDash val="solid"/>
                      <a:round/>
                      <a:headEnd type="none" w="med" len="med"/>
                      <a:tailEnd type="none" w="med" len="med"/>
                    </a:lnB>
                  </a:tcPr>
                </a:tc>
                <a:tc>
                  <a:txBody>
                    <a:bodyPr/>
                    <a:lstStyle/>
                    <a:p>
                      <a:pPr marL="0" indent="0" algn="l">
                        <a:buNone/>
                      </a:pPr>
                      <a:r>
                        <a:rPr lang="en-US" sz="1400" dirty="0">
                          <a:solidFill>
                            <a:srgbClr val="C2C4B5"/>
                          </a:solidFill>
                          <a:latin typeface="Bitter" pitchFamily="34" charset="0"/>
                          <a:ea typeface="Bitter" pitchFamily="34" charset="-122"/>
                          <a:cs typeface="Bitter" pitchFamily="34" charset="-120"/>
                        </a:rPr>
                        <a:t>true</a:t>
                      </a:r>
                      <a:endParaRPr lang="en-US" sz="1400" dirty="0">
                        <a:latin typeface="Bitter" charset="0"/>
                        <a:ea typeface="Bitter" charset="0"/>
                        <a:cs typeface="Bitter" charset="0"/>
                      </a:endParaRPr>
                    </a:p>
                  </a:txBody>
                  <a:tcPr marL="133347" marR="133347" marT="71118" marB="71118" anchor="ctr">
                    <a:lnL w="12700" cap="flat" cmpd="sng" algn="ctr">
                      <a:solidFill>
                        <a:srgbClr val="1C1D1F"/>
                      </a:solidFill>
                      <a:prstDash val="solid"/>
                      <a:round/>
                      <a:headEnd type="none" w="med" len="med"/>
                      <a:tailEnd type="none" w="med" len="med"/>
                    </a:lnL>
                    <a:lnR w="12700" cap="flat" cmpd="sng" algn="ctr">
                      <a:solidFill>
                        <a:srgbClr val="1C1D1F"/>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525355"/>
                      </a:solidFill>
                      <a:prstDash val="solid"/>
                      <a:round/>
                      <a:headEnd type="none" w="med" len="med"/>
                      <a:tailEnd type="none" w="med" len="med"/>
                    </a:lnB>
                  </a:tcPr>
                </a:tc>
                <a:tc>
                  <a:txBody>
                    <a:bodyPr/>
                    <a:lstStyle/>
                    <a:p>
                      <a:pPr marL="0" indent="0" algn="l">
                        <a:buNone/>
                      </a:pPr>
                      <a:r>
                        <a:rPr lang="en-US" sz="1400" dirty="0">
                          <a:solidFill>
                            <a:srgbClr val="C2C4B5"/>
                          </a:solidFill>
                          <a:latin typeface="Bitter" pitchFamily="34" charset="0"/>
                          <a:ea typeface="Bitter" pitchFamily="34" charset="-122"/>
                          <a:cs typeface="Bitter" pitchFamily="34" charset="-120"/>
                        </a:rPr>
                        <a:t>Login status</a:t>
                      </a:r>
                      <a:endParaRPr lang="en-US" sz="1400" dirty="0">
                        <a:latin typeface="Bitter" charset="0"/>
                        <a:ea typeface="Bitter" charset="0"/>
                        <a:cs typeface="Bitter" charset="0"/>
                      </a:endParaRPr>
                    </a:p>
                  </a:txBody>
                  <a:tcPr marL="133347" marR="133347" marT="71118" marB="71118" anchor="ctr">
                    <a:lnL w="12700" cap="flat" cmpd="sng" algn="ctr">
                      <a:solidFill>
                        <a:srgbClr val="1C1D1F"/>
                      </a:solidFill>
                      <a:prstDash val="solid"/>
                      <a:round/>
                      <a:headEnd type="none" w="med" len="med"/>
                      <a:tailEnd type="none" w="med" len="med"/>
                    </a:lnL>
                    <a:lnR w="12700" cap="flat" cmpd="sng" algn="ctr">
                      <a:solidFill>
                        <a:srgbClr val="1C1D1F"/>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525355"/>
                      </a:solidFill>
                      <a:prstDash val="solid"/>
                      <a:round/>
                      <a:headEnd type="none" w="med" len="med"/>
                      <a:tailEnd type="none" w="med" len="med"/>
                    </a:lnB>
                  </a:tcPr>
                </a:tc>
                <a:extLst>
                  <a:ext uri="{0D108BD9-81ED-4DB2-BD59-A6C34878D82A}">
                    <a16:rowId xmlns:a16="http://schemas.microsoft.com/office/drawing/2014/main" val="10004"/>
                  </a:ext>
                </a:extLst>
              </a:tr>
              <a:tr h="397262">
                <a:tc>
                  <a:txBody>
                    <a:bodyPr/>
                    <a:lstStyle/>
                    <a:p>
                      <a:pPr marL="0" indent="0" algn="l">
                        <a:buNone/>
                      </a:pPr>
                      <a:r>
                        <a:rPr lang="en-US" sz="1400" b="1" dirty="0">
                          <a:solidFill>
                            <a:srgbClr val="C2C4B5"/>
                          </a:solidFill>
                          <a:latin typeface="Bitter" pitchFamily="34" charset="0"/>
                          <a:ea typeface="Bitter" pitchFamily="34" charset="-122"/>
                          <a:cs typeface="Bitter" pitchFamily="34" charset="-120"/>
                        </a:rPr>
                        <a:t>char</a:t>
                      </a:r>
                      <a:endParaRPr lang="en-US" sz="1400" dirty="0">
                        <a:latin typeface="Bitter" charset="0"/>
                        <a:ea typeface="Bitter" charset="0"/>
                        <a:cs typeface="Bitter" charset="0"/>
                      </a:endParaRPr>
                    </a:p>
                  </a:txBody>
                  <a:tcPr marL="133347" marR="133347" marT="71118" marB="71118" anchor="ctr">
                    <a:lnL w="12700" cap="flat" cmpd="sng" algn="ctr">
                      <a:solidFill>
                        <a:srgbClr val="1C1D1F"/>
                      </a:solidFill>
                      <a:prstDash val="solid"/>
                      <a:round/>
                      <a:headEnd type="none" w="med" len="med"/>
                      <a:tailEnd type="none" w="med" len="med"/>
                    </a:lnL>
                    <a:lnR w="12700" cap="flat" cmpd="sng" algn="ctr">
                      <a:solidFill>
                        <a:srgbClr val="1C1D1F"/>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525355"/>
                      </a:solidFill>
                      <a:prstDash val="solid"/>
                      <a:round/>
                      <a:headEnd type="none" w="med" len="med"/>
                      <a:tailEnd type="none" w="med" len="med"/>
                    </a:lnB>
                  </a:tcPr>
                </a:tc>
                <a:tc>
                  <a:txBody>
                    <a:bodyPr/>
                    <a:lstStyle/>
                    <a:p>
                      <a:pPr marL="0" indent="0" algn="l">
                        <a:buNone/>
                      </a:pPr>
                      <a:r>
                        <a:rPr lang="en-US" sz="1400" dirty="0">
                          <a:solidFill>
                            <a:srgbClr val="C2C4B5"/>
                          </a:solidFill>
                          <a:latin typeface="Bitter" pitchFamily="34" charset="0"/>
                          <a:ea typeface="Bitter" pitchFamily="34" charset="-122"/>
                          <a:cs typeface="Bitter" pitchFamily="34" charset="-120"/>
                        </a:rPr>
                        <a:t>'A'</a:t>
                      </a:r>
                      <a:endParaRPr lang="en-US" sz="1400" dirty="0">
                        <a:latin typeface="Bitter" charset="0"/>
                        <a:ea typeface="Bitter" charset="0"/>
                        <a:cs typeface="Bitter" charset="0"/>
                      </a:endParaRPr>
                    </a:p>
                  </a:txBody>
                  <a:tcPr marL="133347" marR="133347" marT="71118" marB="71118" anchor="ctr">
                    <a:lnL w="12700" cap="flat" cmpd="sng" algn="ctr">
                      <a:solidFill>
                        <a:srgbClr val="1C1D1F"/>
                      </a:solidFill>
                      <a:prstDash val="solid"/>
                      <a:round/>
                      <a:headEnd type="none" w="med" len="med"/>
                      <a:tailEnd type="none" w="med" len="med"/>
                    </a:lnL>
                    <a:lnR w="12700" cap="flat" cmpd="sng" algn="ctr">
                      <a:solidFill>
                        <a:srgbClr val="1C1D1F"/>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525355"/>
                      </a:solidFill>
                      <a:prstDash val="solid"/>
                      <a:round/>
                      <a:headEnd type="none" w="med" len="med"/>
                      <a:tailEnd type="none" w="med" len="med"/>
                    </a:lnB>
                  </a:tcPr>
                </a:tc>
                <a:tc>
                  <a:txBody>
                    <a:bodyPr/>
                    <a:lstStyle/>
                    <a:p>
                      <a:pPr marL="0" indent="0" algn="l">
                        <a:buNone/>
                      </a:pPr>
                      <a:r>
                        <a:rPr lang="en-US" sz="1400" dirty="0">
                          <a:solidFill>
                            <a:srgbClr val="C2C4B5"/>
                          </a:solidFill>
                          <a:latin typeface="Bitter" pitchFamily="34" charset="0"/>
                          <a:ea typeface="Bitter" pitchFamily="34" charset="-122"/>
                          <a:cs typeface="Bitter" pitchFamily="34" charset="-120"/>
                        </a:rPr>
                        <a:t>A single character</a:t>
                      </a:r>
                      <a:endParaRPr lang="en-US" sz="1400" dirty="0">
                        <a:latin typeface="Bitter" charset="0"/>
                        <a:ea typeface="Bitter" charset="0"/>
                        <a:cs typeface="Bitter" charset="0"/>
                      </a:endParaRPr>
                    </a:p>
                  </a:txBody>
                  <a:tcPr marL="133347" marR="133347" marT="71118" marB="71118" anchor="ctr">
                    <a:lnL w="12700" cap="flat" cmpd="sng" algn="ctr">
                      <a:solidFill>
                        <a:srgbClr val="1C1D1F"/>
                      </a:solidFill>
                      <a:prstDash val="solid"/>
                      <a:round/>
                      <a:headEnd type="none" w="med" len="med"/>
                      <a:tailEnd type="none" w="med" len="med"/>
                    </a:lnL>
                    <a:lnR w="12700" cap="flat" cmpd="sng" algn="ctr">
                      <a:solidFill>
                        <a:srgbClr val="1C1D1F"/>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525355"/>
                      </a:solidFill>
                      <a:prstDash val="solid"/>
                      <a:round/>
                      <a:headEnd type="none" w="med" len="med"/>
                      <a:tailEnd type="none" w="med" len="med"/>
                    </a:lnB>
                  </a:tcPr>
                </a:tc>
                <a:extLst>
                  <a:ext uri="{0D108BD9-81ED-4DB2-BD59-A6C34878D82A}">
                    <a16:rowId xmlns:a16="http://schemas.microsoft.com/office/drawing/2014/main" val="10005"/>
                  </a:ext>
                </a:extLst>
              </a:tr>
              <a:tr h="397262">
                <a:tc>
                  <a:txBody>
                    <a:bodyPr/>
                    <a:lstStyle/>
                    <a:p>
                      <a:pPr marL="0" indent="0" algn="l">
                        <a:buNone/>
                      </a:pPr>
                      <a:r>
                        <a:rPr lang="en-US" sz="1400" b="1" dirty="0">
                          <a:solidFill>
                            <a:srgbClr val="C2C4B5"/>
                          </a:solidFill>
                          <a:latin typeface="Bitter" pitchFamily="34" charset="0"/>
                          <a:ea typeface="Bitter" pitchFamily="34" charset="-122"/>
                          <a:cs typeface="Bitter" pitchFamily="34" charset="-120"/>
                        </a:rPr>
                        <a:t>long · float · short</a:t>
                      </a:r>
                      <a:endParaRPr lang="en-US" sz="1400" dirty="0">
                        <a:latin typeface="Bitter" charset="0"/>
                        <a:ea typeface="Bitter" charset="0"/>
                        <a:cs typeface="Bitter" charset="0"/>
                      </a:endParaRPr>
                    </a:p>
                  </a:txBody>
                  <a:tcPr marL="133347" marR="133347" marT="71118" marB="71118" anchor="ctr">
                    <a:lnL w="12700" cap="flat" cmpd="sng" algn="ctr">
                      <a:solidFill>
                        <a:srgbClr val="1C1D1F"/>
                      </a:solidFill>
                      <a:prstDash val="solid"/>
                      <a:round/>
                      <a:headEnd type="none" w="med" len="med"/>
                      <a:tailEnd type="none" w="med" len="med"/>
                    </a:lnL>
                    <a:lnR w="12700" cap="flat" cmpd="sng" algn="ctr">
                      <a:solidFill>
                        <a:srgbClr val="1C1D1F"/>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525355"/>
                      </a:solidFill>
                      <a:prstDash val="solid"/>
                      <a:round/>
                      <a:headEnd type="none" w="med" len="med"/>
                      <a:tailEnd type="none" w="med" len="med"/>
                    </a:lnB>
                  </a:tcPr>
                </a:tc>
                <a:tc>
                  <a:txBody>
                    <a:bodyPr/>
                    <a:lstStyle/>
                    <a:p>
                      <a:pPr marL="0" indent="0" algn="l">
                        <a:buNone/>
                      </a:pPr>
                      <a:r>
                        <a:rPr lang="en-US" sz="1400" dirty="0">
                          <a:solidFill>
                            <a:srgbClr val="C2C4B5"/>
                          </a:solidFill>
                          <a:latin typeface="Bitter" pitchFamily="34" charset="0"/>
                          <a:ea typeface="Bitter" pitchFamily="34" charset="-122"/>
                          <a:cs typeface="Bitter" pitchFamily="34" charset="-120"/>
                        </a:rPr>
                        <a:t>Numeric values</a:t>
                      </a:r>
                      <a:endParaRPr lang="en-US" sz="1400" dirty="0">
                        <a:latin typeface="Bitter" charset="0"/>
                        <a:ea typeface="Bitter" charset="0"/>
                        <a:cs typeface="Bitter" charset="0"/>
                      </a:endParaRPr>
                    </a:p>
                  </a:txBody>
                  <a:tcPr marL="133347" marR="133347" marT="71118" marB="71118" anchor="ctr">
                    <a:lnL w="12700" cap="flat" cmpd="sng" algn="ctr">
                      <a:solidFill>
                        <a:srgbClr val="1C1D1F"/>
                      </a:solidFill>
                      <a:prstDash val="solid"/>
                      <a:round/>
                      <a:headEnd type="none" w="med" len="med"/>
                      <a:tailEnd type="none" w="med" len="med"/>
                    </a:lnL>
                    <a:lnR w="12700" cap="flat" cmpd="sng" algn="ctr">
                      <a:solidFill>
                        <a:srgbClr val="1C1D1F"/>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525355"/>
                      </a:solidFill>
                      <a:prstDash val="solid"/>
                      <a:round/>
                      <a:headEnd type="none" w="med" len="med"/>
                      <a:tailEnd type="none" w="med" len="med"/>
                    </a:lnB>
                  </a:tcPr>
                </a:tc>
                <a:tc>
                  <a:txBody>
                    <a:bodyPr/>
                    <a:lstStyle/>
                    <a:p>
                      <a:pPr marL="0" indent="0" algn="l">
                        <a:buNone/>
                      </a:pPr>
                      <a:r>
                        <a:rPr lang="en-US" sz="1400" dirty="0">
                          <a:solidFill>
                            <a:srgbClr val="C2C4B5"/>
                          </a:solidFill>
                          <a:latin typeface="Bitter" pitchFamily="34" charset="0"/>
                          <a:ea typeface="Bitter" pitchFamily="34" charset="-122"/>
                          <a:cs typeface="Bitter" pitchFamily="34" charset="-120"/>
                        </a:rPr>
                        <a:t>Larger, decimal, or smaller numeric values</a:t>
                      </a:r>
                      <a:endParaRPr lang="en-US" sz="1400" dirty="0">
                        <a:latin typeface="Bitter" charset="0"/>
                        <a:ea typeface="Bitter" charset="0"/>
                        <a:cs typeface="Bitter" charset="0"/>
                      </a:endParaRPr>
                    </a:p>
                  </a:txBody>
                  <a:tcPr marL="133347" marR="133347" marT="71118" marB="71118" anchor="ctr">
                    <a:lnL w="12700" cap="flat" cmpd="sng" algn="ctr">
                      <a:solidFill>
                        <a:srgbClr val="1C1D1F"/>
                      </a:solidFill>
                      <a:prstDash val="solid"/>
                      <a:round/>
                      <a:headEnd type="none" w="med" len="med"/>
                      <a:tailEnd type="none" w="med" len="med"/>
                    </a:lnL>
                    <a:lnR w="12700" cap="flat" cmpd="sng" algn="ctr">
                      <a:solidFill>
                        <a:srgbClr val="1C1D1F"/>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525355"/>
                      </a:solidFill>
                      <a:prstDash val="solid"/>
                      <a:round/>
                      <a:headEnd type="none" w="med" len="med"/>
                      <a:tailEnd type="none" w="med" len="med"/>
                    </a:lnB>
                  </a:tcPr>
                </a:tc>
                <a:extLst>
                  <a:ext uri="{0D108BD9-81ED-4DB2-BD59-A6C34878D82A}">
                    <a16:rowId xmlns:a16="http://schemas.microsoft.com/office/drawing/2014/main" val="10006"/>
                  </a:ext>
                </a:extLst>
              </a:tr>
              <a:tr h="397262">
                <a:tc>
                  <a:txBody>
                    <a:bodyPr/>
                    <a:lstStyle/>
                    <a:p>
                      <a:pPr marL="0" indent="0" algn="l">
                        <a:buNone/>
                      </a:pPr>
                      <a:r>
                        <a:rPr lang="en-US" sz="1400" b="1" dirty="0">
                          <a:solidFill>
                            <a:srgbClr val="C2C4B5"/>
                          </a:solidFill>
                          <a:latin typeface="Bitter" pitchFamily="34" charset="0"/>
                          <a:ea typeface="Bitter" pitchFamily="34" charset="-122"/>
                          <a:cs typeface="Bitter" pitchFamily="34" charset="-120"/>
                        </a:rPr>
                        <a:t>String</a:t>
                      </a:r>
                      <a:endParaRPr lang="en-US" sz="1400" dirty="0">
                        <a:latin typeface="Bitter" charset="0"/>
                        <a:ea typeface="Bitter" charset="0"/>
                        <a:cs typeface="Bitter" charset="0"/>
                      </a:endParaRPr>
                    </a:p>
                  </a:txBody>
                  <a:tcPr marL="133347" marR="133347" marT="71118" marB="71118" anchor="ctr">
                    <a:lnL w="12700" cap="flat" cmpd="sng" algn="ctr">
                      <a:solidFill>
                        <a:srgbClr val="1C1D1F"/>
                      </a:solidFill>
                      <a:prstDash val="solid"/>
                      <a:round/>
                      <a:headEnd type="none" w="med" len="med"/>
                      <a:tailEnd type="none" w="med" len="med"/>
                    </a:lnL>
                    <a:lnR w="12700" cap="flat" cmpd="sng" algn="ctr">
                      <a:solidFill>
                        <a:srgbClr val="1C1D1F"/>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525355"/>
                      </a:solidFill>
                      <a:prstDash val="solid"/>
                      <a:round/>
                      <a:headEnd type="none" w="med" len="med"/>
                      <a:tailEnd type="none" w="med" len="med"/>
                    </a:lnB>
                  </a:tcPr>
                </a:tc>
                <a:tc>
                  <a:txBody>
                    <a:bodyPr/>
                    <a:lstStyle/>
                    <a:p>
                      <a:pPr marL="0" indent="0" algn="l">
                        <a:buNone/>
                      </a:pPr>
                      <a:r>
                        <a:rPr lang="en-US" sz="1400" dirty="0">
                          <a:solidFill>
                            <a:srgbClr val="C2C4B5"/>
                          </a:solidFill>
                          <a:latin typeface="Bitter" pitchFamily="34" charset="0"/>
                          <a:ea typeface="Bitter" pitchFamily="34" charset="-122"/>
                          <a:cs typeface="Bitter" pitchFamily="34" charset="-120"/>
                        </a:rPr>
                        <a:t>"Welcome"</a:t>
                      </a:r>
                      <a:endParaRPr lang="en-US" sz="1400" dirty="0">
                        <a:latin typeface="Bitter" charset="0"/>
                        <a:ea typeface="Bitter" charset="0"/>
                        <a:cs typeface="Bitter" charset="0"/>
                      </a:endParaRPr>
                    </a:p>
                  </a:txBody>
                  <a:tcPr marL="133347" marR="133347" marT="71118" marB="71118" anchor="ctr">
                    <a:lnL w="12700" cap="flat" cmpd="sng" algn="ctr">
                      <a:solidFill>
                        <a:srgbClr val="1C1D1F"/>
                      </a:solidFill>
                      <a:prstDash val="solid"/>
                      <a:round/>
                      <a:headEnd type="none" w="med" len="med"/>
                      <a:tailEnd type="none" w="med" len="med"/>
                    </a:lnL>
                    <a:lnR w="12700" cap="flat" cmpd="sng" algn="ctr">
                      <a:solidFill>
                        <a:srgbClr val="1C1D1F"/>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525355"/>
                      </a:solidFill>
                      <a:prstDash val="solid"/>
                      <a:round/>
                      <a:headEnd type="none" w="med" len="med"/>
                      <a:tailEnd type="none" w="med" len="med"/>
                    </a:lnB>
                  </a:tcPr>
                </a:tc>
                <a:tc>
                  <a:txBody>
                    <a:bodyPr/>
                    <a:lstStyle/>
                    <a:p>
                      <a:pPr marL="0" indent="0" algn="l">
                        <a:buNone/>
                      </a:pPr>
                      <a:r>
                        <a:rPr lang="en-US" sz="1400" dirty="0">
                          <a:solidFill>
                            <a:srgbClr val="C2C4B5"/>
                          </a:solidFill>
                          <a:latin typeface="Bitter" pitchFamily="34" charset="0"/>
                          <a:ea typeface="Bitter" pitchFamily="34" charset="-122"/>
                          <a:cs typeface="Bitter" pitchFamily="34" charset="-120"/>
                        </a:rPr>
                        <a:t>Names and messages</a:t>
                      </a:r>
                      <a:endParaRPr lang="en-US" sz="1400" dirty="0">
                        <a:latin typeface="Bitter" charset="0"/>
                        <a:ea typeface="Bitter" charset="0"/>
                        <a:cs typeface="Bitter" charset="0"/>
                      </a:endParaRPr>
                    </a:p>
                  </a:txBody>
                  <a:tcPr marL="133347" marR="133347" marT="71118" marB="71118" anchor="ctr">
                    <a:lnL w="12700" cap="flat" cmpd="sng" algn="ctr">
                      <a:solidFill>
                        <a:srgbClr val="1C1D1F"/>
                      </a:solidFill>
                      <a:prstDash val="solid"/>
                      <a:round/>
                      <a:headEnd type="none" w="med" len="med"/>
                      <a:tailEnd type="none" w="med" len="med"/>
                    </a:lnL>
                    <a:lnR w="12700" cap="flat" cmpd="sng" algn="ctr">
                      <a:solidFill>
                        <a:srgbClr val="1C1D1F"/>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525355"/>
                      </a:solidFill>
                      <a:prstDash val="solid"/>
                      <a:round/>
                      <a:headEnd type="none" w="med" len="med"/>
                      <a:tailEnd type="none" w="med" len="med"/>
                    </a:lnB>
                  </a:tcPr>
                </a:tc>
                <a:extLst>
                  <a:ext uri="{0D108BD9-81ED-4DB2-BD59-A6C34878D82A}">
                    <a16:rowId xmlns:a16="http://schemas.microsoft.com/office/drawing/2014/main" val="10007"/>
                  </a:ext>
                </a:extLst>
              </a:tr>
              <a:tr h="390912">
                <a:tc>
                  <a:txBody>
                    <a:bodyPr/>
                    <a:lstStyle/>
                    <a:p>
                      <a:pPr marL="0" indent="0" algn="l">
                        <a:buNone/>
                      </a:pPr>
                      <a:r>
                        <a:rPr lang="en-US" sz="1400" b="1" dirty="0">
                          <a:solidFill>
                            <a:srgbClr val="C2C4B5"/>
                          </a:solidFill>
                          <a:latin typeface="Bitter" pitchFamily="34" charset="0"/>
                          <a:ea typeface="Bitter" pitchFamily="34" charset="-122"/>
                          <a:cs typeface="Bitter" pitchFamily="34" charset="-120"/>
                        </a:rPr>
                        <a:t>array · class · object</a:t>
                      </a:r>
                      <a:endParaRPr lang="en-US" sz="1400" dirty="0">
                        <a:latin typeface="Bitter" charset="0"/>
                        <a:ea typeface="Bitter" charset="0"/>
                        <a:cs typeface="Bitter" charset="0"/>
                      </a:endParaRPr>
                    </a:p>
                  </a:txBody>
                  <a:tcPr marL="133347" marR="133347" marT="71118" marB="71118" anchor="ctr">
                    <a:lnL w="12700" cap="flat" cmpd="sng" algn="ctr">
                      <a:solidFill>
                        <a:srgbClr val="1C1D1F"/>
                      </a:solidFill>
                      <a:prstDash val="solid"/>
                      <a:round/>
                      <a:headEnd type="none" w="med" len="med"/>
                      <a:tailEnd type="none" w="med" len="med"/>
                    </a:lnL>
                    <a:lnR w="12700" cap="flat" cmpd="sng" algn="ctr">
                      <a:solidFill>
                        <a:srgbClr val="1C1D1F"/>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1C1D1F"/>
                      </a:solidFill>
                      <a:prstDash val="solid"/>
                      <a:round/>
                      <a:headEnd type="none" w="med" len="med"/>
                      <a:tailEnd type="none" w="med" len="med"/>
                    </a:lnB>
                  </a:tcPr>
                </a:tc>
                <a:tc>
                  <a:txBody>
                    <a:bodyPr/>
                    <a:lstStyle/>
                    <a:p>
                      <a:pPr marL="0" indent="0" algn="l">
                        <a:buNone/>
                      </a:pPr>
                      <a:r>
                        <a:rPr lang="en-US" sz="1400" dirty="0">
                          <a:solidFill>
                            <a:srgbClr val="C2C4B5"/>
                          </a:solidFill>
                          <a:latin typeface="Bitter" pitchFamily="34" charset="0"/>
                          <a:ea typeface="Bitter" pitchFamily="34" charset="-122"/>
                          <a:cs typeface="Bitter" pitchFamily="34" charset="-120"/>
                        </a:rPr>
                        <a:t>double[]</a:t>
                      </a:r>
                      <a:endParaRPr lang="en-US" sz="1400" dirty="0">
                        <a:latin typeface="Bitter" charset="0"/>
                        <a:ea typeface="Bitter" charset="0"/>
                        <a:cs typeface="Bitter" charset="0"/>
                      </a:endParaRPr>
                    </a:p>
                  </a:txBody>
                  <a:tcPr marL="133347" marR="133347" marT="71118" marB="71118" anchor="ctr">
                    <a:lnL w="12700" cap="flat" cmpd="sng" algn="ctr">
                      <a:solidFill>
                        <a:srgbClr val="1C1D1F"/>
                      </a:solidFill>
                      <a:prstDash val="solid"/>
                      <a:round/>
                      <a:headEnd type="none" w="med" len="med"/>
                      <a:tailEnd type="none" w="med" len="med"/>
                    </a:lnL>
                    <a:lnR w="12700" cap="flat" cmpd="sng" algn="ctr">
                      <a:solidFill>
                        <a:srgbClr val="1C1D1F"/>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1C1D1F"/>
                      </a:solidFill>
                      <a:prstDash val="solid"/>
                      <a:round/>
                      <a:headEnd type="none" w="med" len="med"/>
                      <a:tailEnd type="none" w="med" len="med"/>
                    </a:lnB>
                  </a:tcPr>
                </a:tc>
                <a:tc>
                  <a:txBody>
                    <a:bodyPr/>
                    <a:lstStyle/>
                    <a:p>
                      <a:pPr marL="0" indent="0" algn="l">
                        <a:buNone/>
                      </a:pPr>
                      <a:r>
                        <a:rPr lang="en-US" sz="1400" dirty="0">
                          <a:solidFill>
                            <a:srgbClr val="C2C4B5"/>
                          </a:solidFill>
                          <a:latin typeface="Bitter" pitchFamily="34" charset="0"/>
                          <a:ea typeface="Bitter" pitchFamily="34" charset="-122"/>
                          <a:cs typeface="Bitter" pitchFamily="34" charset="-120"/>
                        </a:rPr>
                        <a:t>Transaction records, accounts, and ATM operations</a:t>
                      </a:r>
                      <a:endParaRPr lang="en-US" sz="1400" dirty="0">
                        <a:latin typeface="Bitter" charset="0"/>
                        <a:ea typeface="Bitter" charset="0"/>
                        <a:cs typeface="Bitter" charset="0"/>
                      </a:endParaRPr>
                    </a:p>
                  </a:txBody>
                  <a:tcPr marL="133347" marR="133347" marT="71118" marB="71118" anchor="ctr">
                    <a:lnL w="12700" cap="flat" cmpd="sng" algn="ctr">
                      <a:solidFill>
                        <a:srgbClr val="1C1D1F"/>
                      </a:solidFill>
                      <a:prstDash val="solid"/>
                      <a:round/>
                      <a:headEnd type="none" w="med" len="med"/>
                      <a:tailEnd type="none" w="med" len="med"/>
                    </a:lnL>
                    <a:lnR w="12700" cap="flat" cmpd="sng" algn="ctr">
                      <a:solidFill>
                        <a:srgbClr val="1C1D1F"/>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1C1D1F"/>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4" name="Text 2"/>
          <p:cNvSpPr/>
          <p:nvPr/>
        </p:nvSpPr>
        <p:spPr>
          <a:xfrm>
            <a:off x="11936213" y="6466086"/>
            <a:ext cx="255482" cy="174129"/>
          </a:xfrm>
          <a:prstGeom prst="rect">
            <a:avLst/>
          </a:prstGeom>
          <a:noFill/>
          <a:ln/>
        </p:spPr>
        <p:txBody>
          <a:bodyPr wrap="none" lIns="0" tIns="0" rIns="0" bIns="0" rtlCol="0" anchor="ctr"/>
          <a:lstStyle/>
          <a:p>
            <a:pPr marL="0" indent="0" algn="l">
              <a:lnSpc>
                <a:spcPct val="117000"/>
              </a:lnSpc>
              <a:buNone/>
            </a:pPr>
            <a:r>
              <a:rPr lang="en-US" sz="1000" kern="100" spc="39" dirty="0">
                <a:solidFill>
                  <a:srgbClr val="C2C4B5"/>
                </a:solidFill>
                <a:latin typeface="Bitter" pitchFamily="34" charset="0"/>
                <a:ea typeface="Bitter" pitchFamily="34" charset="-122"/>
                <a:cs typeface="Bitter"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9585" y="609600"/>
            <a:ext cx="11582110"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9FA582"/>
                </a:solidFill>
                <a:latin typeface="Bitter" pitchFamily="34" charset="0"/>
                <a:ea typeface="Bitter" pitchFamily="34" charset="-122"/>
                <a:cs typeface="Bitter" pitchFamily="34" charset="-120"/>
              </a:rPr>
              <a:t>04 · CONTROL FLOW</a:t>
            </a:r>
            <a:endParaRPr lang="en-US" sz="1050" dirty="0"/>
          </a:p>
        </p:txBody>
      </p:sp>
      <p:sp>
        <p:nvSpPr>
          <p:cNvPr id="3" name="Text 1"/>
          <p:cNvSpPr/>
          <p:nvPr/>
        </p:nvSpPr>
        <p:spPr>
          <a:xfrm>
            <a:off x="609585" y="897478"/>
            <a:ext cx="10972526" cy="446980"/>
          </a:xfrm>
          <a:prstGeom prst="rect">
            <a:avLst/>
          </a:prstGeom>
          <a:noFill/>
          <a:ln/>
        </p:spPr>
        <p:txBody>
          <a:bodyPr wrap="none" lIns="0" tIns="0" rIns="0" bIns="0" rtlCol="0" anchor="t"/>
          <a:lstStyle/>
          <a:p>
            <a:pPr marL="0" indent="0" algn="l">
              <a:lnSpc>
                <a:spcPct val="92000"/>
              </a:lnSpc>
              <a:buNone/>
            </a:pPr>
            <a:r>
              <a:rPr lang="en-US" sz="3200" b="1" dirty="0">
                <a:solidFill>
                  <a:srgbClr val="E1E5CD"/>
                </a:solidFill>
                <a:latin typeface="Outfit Bold" pitchFamily="34" charset="0"/>
                <a:ea typeface="Outfit Bold" pitchFamily="34" charset="-122"/>
                <a:cs typeface="Outfit Bold" pitchFamily="34" charset="-120"/>
              </a:rPr>
              <a:t>Loops and conditions keep the menu under control</a:t>
            </a:r>
            <a:endParaRPr lang="en-US" sz="3200" dirty="0"/>
          </a:p>
        </p:txBody>
      </p:sp>
      <p:sp>
        <p:nvSpPr>
          <p:cNvPr id="4" name="Text 2"/>
          <p:cNvSpPr/>
          <p:nvPr/>
        </p:nvSpPr>
        <p:spPr>
          <a:xfrm>
            <a:off x="609585" y="1494036"/>
            <a:ext cx="5333867" cy="956072"/>
          </a:xfrm>
          <a:prstGeom prst="rect">
            <a:avLst/>
          </a:prstGeom>
          <a:noFill/>
          <a:ln/>
        </p:spPr>
        <p:txBody>
          <a:bodyPr wrap="square" lIns="0" tIns="0" rIns="0" bIns="0" rtlCol="0" anchor="t"/>
          <a:lstStyle/>
          <a:p>
            <a:pPr marL="0" indent="0" algn="l">
              <a:lnSpc>
                <a:spcPct val="117000"/>
              </a:lnSpc>
              <a:spcAft>
                <a:spcPts val="800"/>
              </a:spcAft>
              <a:buNone/>
            </a:pPr>
            <a:r>
              <a:rPr lang="en-US" sz="1400" b="1" dirty="0">
                <a:solidFill>
                  <a:srgbClr val="C2C4B5"/>
                </a:solidFill>
                <a:latin typeface="Bitter Bold" pitchFamily="34" charset="0"/>
                <a:ea typeface="Bitter Bold" pitchFamily="34" charset="-122"/>
                <a:cs typeface="Bitter Bold" pitchFamily="34" charset="-120"/>
              </a:rPr>
              <a:t>for:</a:t>
            </a:r>
            <a:r>
              <a:rPr lang="en-US" sz="1400" dirty="0">
                <a:solidFill>
                  <a:srgbClr val="C2C4B5"/>
                </a:solidFill>
                <a:latin typeface="Bitter" pitchFamily="34" charset="0"/>
                <a:ea typeface="Bitter" pitchFamily="34" charset="-122"/>
                <a:cs typeface="Bitter" pitchFamily="34" charset="-120"/>
              </a:rPr>
              <a:t> process transaction records.</a:t>
            </a:r>
            <a:endParaRPr lang="en-US" sz="1400" dirty="0"/>
          </a:p>
          <a:p>
            <a:pPr marL="0" indent="0" algn="l">
              <a:lnSpc>
                <a:spcPct val="117000"/>
              </a:lnSpc>
              <a:spcAft>
                <a:spcPts val="800"/>
              </a:spcAft>
              <a:buNone/>
            </a:pPr>
            <a:r>
              <a:rPr lang="en-US" sz="1400" b="1" dirty="0">
                <a:solidFill>
                  <a:srgbClr val="C2C4B5"/>
                </a:solidFill>
                <a:latin typeface="Bitter Bold" pitchFamily="34" charset="0"/>
                <a:ea typeface="Bitter Bold" pitchFamily="34" charset="-122"/>
                <a:cs typeface="Bitter Bold" pitchFamily="34" charset="-120"/>
              </a:rPr>
              <a:t>while:</a:t>
            </a:r>
            <a:r>
              <a:rPr lang="en-US" sz="1400" dirty="0">
                <a:solidFill>
                  <a:srgbClr val="C2C4B5"/>
                </a:solidFill>
                <a:latin typeface="Bitter" pitchFamily="34" charset="0"/>
                <a:ea typeface="Bitter" pitchFamily="34" charset="-122"/>
                <a:cs typeface="Bitter" pitchFamily="34" charset="-120"/>
              </a:rPr>
              <a:t> repeat actions while a condition remains true.</a:t>
            </a:r>
            <a:endParaRPr lang="en-US" sz="1400" dirty="0"/>
          </a:p>
          <a:p>
            <a:pPr marL="0" indent="0" algn="l">
              <a:lnSpc>
                <a:spcPct val="117000"/>
              </a:lnSpc>
              <a:buNone/>
            </a:pPr>
            <a:r>
              <a:rPr lang="en-US" sz="1400" b="1" dirty="0">
                <a:solidFill>
                  <a:srgbClr val="C2C4B5"/>
                </a:solidFill>
                <a:latin typeface="Bitter Bold" pitchFamily="34" charset="0"/>
                <a:ea typeface="Bitter Bold" pitchFamily="34" charset="-122"/>
                <a:cs typeface="Bitter Bold" pitchFamily="34" charset="-120"/>
              </a:rPr>
              <a:t>do-while:</a:t>
            </a:r>
            <a:r>
              <a:rPr lang="en-US" sz="1400" dirty="0">
                <a:solidFill>
                  <a:srgbClr val="C2C4B5"/>
                </a:solidFill>
                <a:latin typeface="Bitter" pitchFamily="34" charset="0"/>
                <a:ea typeface="Bitter" pitchFamily="34" charset="-122"/>
                <a:cs typeface="Bitter" pitchFamily="34" charset="-120"/>
              </a:rPr>
              <a:t> show the ATM menu until the user exits.</a:t>
            </a:r>
            <a:endParaRPr lang="en-US" sz="1400" dirty="0"/>
          </a:p>
        </p:txBody>
      </p:sp>
      <p:sp>
        <p:nvSpPr>
          <p:cNvPr id="5" name="Text 3"/>
          <p:cNvSpPr/>
          <p:nvPr/>
        </p:nvSpPr>
        <p:spPr>
          <a:xfrm>
            <a:off x="609585" y="2554883"/>
            <a:ext cx="5333867" cy="186630"/>
          </a:xfrm>
          <a:prstGeom prst="rect">
            <a:avLst/>
          </a:prstGeom>
          <a:noFill/>
          <a:ln/>
        </p:spPr>
        <p:txBody>
          <a:bodyPr wrap="none" lIns="0" tIns="0" rIns="0" bIns="0" rtlCol="0" anchor="t"/>
          <a:lstStyle/>
          <a:p>
            <a:pPr marL="0" indent="0" algn="l">
              <a:lnSpc>
                <a:spcPct val="117000"/>
              </a:lnSpc>
              <a:buNone/>
            </a:pPr>
            <a:r>
              <a:rPr lang="en-US" sz="1050" dirty="0">
                <a:solidFill>
                  <a:srgbClr val="C2C4B5"/>
                </a:solidFill>
                <a:latin typeface="Bitter" pitchFamily="34" charset="0"/>
                <a:ea typeface="Bitter" pitchFamily="34" charset="-122"/>
                <a:cs typeface="Bitter" pitchFamily="34" charset="-120"/>
              </a:rPr>
              <a:t>ATM menu → condition remains true → repeat actions</a:t>
            </a:r>
            <a:endParaRPr lang="en-US" sz="1050" dirty="0"/>
          </a:p>
        </p:txBody>
      </p:sp>
      <p:sp>
        <p:nvSpPr>
          <p:cNvPr id="6" name="Text 4"/>
          <p:cNvSpPr/>
          <p:nvPr/>
        </p:nvSpPr>
        <p:spPr>
          <a:xfrm>
            <a:off x="6248244" y="1494036"/>
            <a:ext cx="5333867" cy="1100138"/>
          </a:xfrm>
          <a:prstGeom prst="rect">
            <a:avLst/>
          </a:prstGeom>
          <a:noFill/>
          <a:ln/>
        </p:spPr>
        <p:txBody>
          <a:bodyPr wrap="square" lIns="0" tIns="0" rIns="0" bIns="0" rtlCol="0" anchor="t">
            <a:normAutofit/>
          </a:bodyPr>
          <a:lstStyle/>
          <a:p>
            <a:pPr marL="0" indent="0" algn="l">
              <a:lnSpc>
                <a:spcPct val="117000"/>
              </a:lnSpc>
              <a:spcAft>
                <a:spcPts val="800"/>
              </a:spcAft>
              <a:buNone/>
            </a:pPr>
            <a:r>
              <a:rPr lang="en-US" sz="1400" b="1" dirty="0">
                <a:solidFill>
                  <a:srgbClr val="C2C4B5"/>
                </a:solidFill>
                <a:latin typeface="Bitter Bold" pitchFamily="34" charset="0"/>
                <a:ea typeface="Bitter Bold" pitchFamily="34" charset="-122"/>
                <a:cs typeface="Bitter Bold" pitchFamily="34" charset="-120"/>
              </a:rPr>
              <a:t>if / if-else / else-if:</a:t>
            </a:r>
            <a:r>
              <a:rPr lang="en-US" sz="1400" dirty="0">
                <a:solidFill>
                  <a:srgbClr val="C2C4B5"/>
                </a:solidFill>
                <a:latin typeface="Bitter" pitchFamily="34" charset="0"/>
                <a:ea typeface="Bitter" pitchFamily="34" charset="-122"/>
                <a:cs typeface="Bitter" pitchFamily="34" charset="-120"/>
              </a:rPr>
              <a:t> verify the PIN, check sufficient balance, and select menu options.</a:t>
            </a:r>
            <a:endParaRPr lang="en-US" sz="1400" dirty="0"/>
          </a:p>
          <a:p>
            <a:pPr marL="0" indent="0" algn="l">
              <a:lnSpc>
                <a:spcPct val="117000"/>
              </a:lnSpc>
              <a:buNone/>
            </a:pPr>
            <a:r>
              <a:rPr lang="en-US" sz="1400" b="1" dirty="0">
                <a:solidFill>
                  <a:srgbClr val="C2C4B5"/>
                </a:solidFill>
                <a:latin typeface="Bitter Bold" pitchFamily="34" charset="0"/>
                <a:ea typeface="Bitter Bold" pitchFamily="34" charset="-122"/>
                <a:cs typeface="Bitter Bold" pitchFamily="34" charset="-120"/>
              </a:rPr>
              <a:t>Nested if:</a:t>
            </a:r>
            <a:r>
              <a:rPr lang="en-US" sz="1400" dirty="0">
                <a:solidFill>
                  <a:srgbClr val="C2C4B5"/>
                </a:solidFill>
                <a:latin typeface="Bitter" pitchFamily="34" charset="0"/>
                <a:ea typeface="Bitter" pitchFamily="34" charset="-122"/>
                <a:cs typeface="Bitter" pitchFamily="34" charset="-120"/>
              </a:rPr>
              <a:t> validate multiple conditions before completing a transaction.</a:t>
            </a:r>
            <a:endParaRPr lang="en-US" sz="1400" dirty="0"/>
          </a:p>
        </p:txBody>
      </p:sp>
      <p:sp>
        <p:nvSpPr>
          <p:cNvPr id="7" name="Text 5"/>
          <p:cNvSpPr/>
          <p:nvPr/>
        </p:nvSpPr>
        <p:spPr>
          <a:xfrm>
            <a:off x="609585" y="3738463"/>
            <a:ext cx="5333867" cy="186630"/>
          </a:xfrm>
          <a:prstGeom prst="rect">
            <a:avLst/>
          </a:prstGeom>
          <a:noFill/>
          <a:ln/>
        </p:spPr>
        <p:txBody>
          <a:bodyPr wrap="none" lIns="0" tIns="0" rIns="0" bIns="0" rtlCol="0" anchor="t"/>
          <a:lstStyle/>
          <a:p>
            <a:pPr marL="0" indent="0" algn="l">
              <a:lnSpc>
                <a:spcPct val="117000"/>
              </a:lnSpc>
              <a:buNone/>
            </a:pPr>
            <a:r>
              <a:rPr lang="en-US" sz="1050" dirty="0">
                <a:solidFill>
                  <a:srgbClr val="C2C4B5"/>
                </a:solidFill>
                <a:latin typeface="Bitter" pitchFamily="34" charset="0"/>
                <a:ea typeface="Bitter" pitchFamily="34" charset="-122"/>
                <a:cs typeface="Bitter" pitchFamily="34" charset="-120"/>
              </a:rPr>
              <a:t>PIN verification</a:t>
            </a:r>
            <a:endParaRPr lang="en-US" sz="1050" dirty="0"/>
          </a:p>
        </p:txBody>
      </p:sp>
      <p:sp>
        <p:nvSpPr>
          <p:cNvPr id="8" name="Text 6"/>
          <p:cNvSpPr/>
          <p:nvPr/>
        </p:nvSpPr>
        <p:spPr>
          <a:xfrm>
            <a:off x="609585" y="4083844"/>
            <a:ext cx="4724282" cy="765572"/>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C2C4B5"/>
                </a:solidFill>
                <a:highlight>
                  <a:srgbClr val="292A2C"/>
                </a:highlight>
                <a:latin typeface="Consolas" pitchFamily="34" charset="0"/>
                <a:ea typeface="Consolas" pitchFamily="34" charset="-122"/>
                <a:cs typeface="Consolas" pitchFamily="34" charset="-120"/>
              </a:rPr>
              <a:t>if (enteredPin == pin) {</a:t>
            </a:r>
            <a:endParaRPr lang="en-US" sz="1400" dirty="0"/>
          </a:p>
          <a:p>
            <a:pPr marL="0" indent="0" algn="l">
              <a:lnSpc>
                <a:spcPct val="117000"/>
              </a:lnSpc>
              <a:buNone/>
            </a:pPr>
            <a:r>
              <a:rPr lang="en-US" sz="1400" dirty="0">
                <a:solidFill>
                  <a:srgbClr val="C2C4B5"/>
                </a:solidFill>
                <a:highlight>
                  <a:srgbClr val="292A2C"/>
                </a:highlight>
                <a:latin typeface="Consolas" pitchFamily="34" charset="0"/>
                <a:ea typeface="Consolas" pitchFamily="34" charset="-122"/>
                <a:cs typeface="Consolas" pitchFamily="34" charset="-120"/>
              </a:rPr>
              <a:t>loggedIn = true;</a:t>
            </a:r>
            <a:endParaRPr lang="en-US" sz="1400" dirty="0"/>
          </a:p>
          <a:p>
            <a:pPr marL="0" indent="0" algn="l">
              <a:lnSpc>
                <a:spcPct val="117000"/>
              </a:lnSpc>
              <a:buNone/>
            </a:pPr>
            <a:r>
              <a:rPr lang="en-US" sz="1400" dirty="0">
                <a:solidFill>
                  <a:srgbClr val="C2C4B5"/>
                </a:solidFill>
                <a:highlight>
                  <a:srgbClr val="292A2C"/>
                </a:highlight>
                <a:latin typeface="Consolas" pitchFamily="34" charset="0"/>
                <a:ea typeface="Consolas" pitchFamily="34" charset="-122"/>
                <a:cs typeface="Consolas" pitchFamily="34" charset="-120"/>
              </a:rPr>
              <a:t>}</a:t>
            </a:r>
            <a:endParaRPr lang="en-US" sz="1400" dirty="0"/>
          </a:p>
        </p:txBody>
      </p:sp>
      <p:sp>
        <p:nvSpPr>
          <p:cNvPr id="9" name="Text 7"/>
          <p:cNvSpPr/>
          <p:nvPr/>
        </p:nvSpPr>
        <p:spPr>
          <a:xfrm>
            <a:off x="6857828" y="3738463"/>
            <a:ext cx="5333867" cy="186630"/>
          </a:xfrm>
          <a:prstGeom prst="rect">
            <a:avLst/>
          </a:prstGeom>
          <a:noFill/>
          <a:ln/>
        </p:spPr>
        <p:txBody>
          <a:bodyPr wrap="none" lIns="0" tIns="0" rIns="0" bIns="0" rtlCol="0" anchor="t"/>
          <a:lstStyle/>
          <a:p>
            <a:pPr marL="0" indent="0" algn="l">
              <a:lnSpc>
                <a:spcPct val="117000"/>
              </a:lnSpc>
              <a:buNone/>
            </a:pPr>
            <a:r>
              <a:rPr lang="en-US" sz="1050" dirty="0">
                <a:solidFill>
                  <a:srgbClr val="C2C4B5"/>
                </a:solidFill>
                <a:latin typeface="Bitter" pitchFamily="34" charset="0"/>
                <a:ea typeface="Bitter" pitchFamily="34" charset="-122"/>
                <a:cs typeface="Bitter" pitchFamily="34" charset="-120"/>
              </a:rPr>
              <a:t>Withdrawal validation</a:t>
            </a:r>
            <a:endParaRPr lang="en-US" sz="1050" dirty="0"/>
          </a:p>
        </p:txBody>
      </p:sp>
      <p:sp>
        <p:nvSpPr>
          <p:cNvPr id="10" name="Text 8"/>
          <p:cNvSpPr/>
          <p:nvPr/>
        </p:nvSpPr>
        <p:spPr>
          <a:xfrm>
            <a:off x="6857828" y="4083844"/>
            <a:ext cx="4724282" cy="765572"/>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C2C4B5"/>
                </a:solidFill>
                <a:highlight>
                  <a:srgbClr val="292A2C"/>
                </a:highlight>
                <a:latin typeface="Consolas" pitchFamily="34" charset="0"/>
                <a:ea typeface="Consolas" pitchFamily="34" charset="-122"/>
                <a:cs typeface="Consolas" pitchFamily="34" charset="-120"/>
              </a:rPr>
              <a:t>if (amount &gt; 0 &amp;&amp; amount &lt;= balance) {</a:t>
            </a:r>
            <a:endParaRPr lang="en-US" sz="1400" dirty="0"/>
          </a:p>
          <a:p>
            <a:pPr marL="0" indent="0" algn="l">
              <a:lnSpc>
                <a:spcPct val="117000"/>
              </a:lnSpc>
              <a:buNone/>
            </a:pPr>
            <a:r>
              <a:rPr lang="en-US" sz="1400" dirty="0">
                <a:solidFill>
                  <a:srgbClr val="C2C4B5"/>
                </a:solidFill>
                <a:highlight>
                  <a:srgbClr val="292A2C"/>
                </a:highlight>
                <a:latin typeface="Consolas" pitchFamily="34" charset="0"/>
                <a:ea typeface="Consolas" pitchFamily="34" charset="-122"/>
                <a:cs typeface="Consolas" pitchFamily="34" charset="-120"/>
              </a:rPr>
              <a:t>balance -= amount;</a:t>
            </a:r>
            <a:endParaRPr lang="en-US" sz="1400" dirty="0"/>
          </a:p>
          <a:p>
            <a:pPr marL="0" indent="0" algn="l">
              <a:lnSpc>
                <a:spcPct val="117000"/>
              </a:lnSpc>
              <a:buNone/>
            </a:pPr>
            <a:r>
              <a:rPr lang="en-US" sz="1400" dirty="0">
                <a:solidFill>
                  <a:srgbClr val="C2C4B5"/>
                </a:solidFill>
                <a:highlight>
                  <a:srgbClr val="292A2C"/>
                </a:highlight>
                <a:latin typeface="Consolas" pitchFamily="34" charset="0"/>
                <a:ea typeface="Consolas" pitchFamily="34" charset="-122"/>
                <a:cs typeface="Consolas" pitchFamily="34" charset="-120"/>
              </a:rPr>
              <a:t>}</a:t>
            </a:r>
            <a:endParaRPr lang="en-US" sz="1400" dirty="0"/>
          </a:p>
        </p:txBody>
      </p:sp>
      <p:sp>
        <p:nvSpPr>
          <p:cNvPr id="11" name="Text 9"/>
          <p:cNvSpPr/>
          <p:nvPr/>
        </p:nvSpPr>
        <p:spPr>
          <a:xfrm>
            <a:off x="11942464" y="6466086"/>
            <a:ext cx="249231" cy="174129"/>
          </a:xfrm>
          <a:prstGeom prst="rect">
            <a:avLst/>
          </a:prstGeom>
          <a:noFill/>
          <a:ln/>
        </p:spPr>
        <p:txBody>
          <a:bodyPr wrap="none" lIns="0" tIns="0" rIns="0" bIns="0" rtlCol="0" anchor="ctr"/>
          <a:lstStyle/>
          <a:p>
            <a:pPr marL="0" indent="0" algn="l">
              <a:lnSpc>
                <a:spcPct val="117000"/>
              </a:lnSpc>
              <a:buNone/>
            </a:pPr>
            <a:r>
              <a:rPr lang="en-US" sz="1000" kern="100" spc="39" dirty="0">
                <a:solidFill>
                  <a:srgbClr val="C2C4B5"/>
                </a:solidFill>
                <a:latin typeface="Bitter" pitchFamily="34" charset="0"/>
                <a:ea typeface="Bitter" pitchFamily="34" charset="-122"/>
                <a:cs typeface="Bitter"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09585" y="609600"/>
            <a:ext cx="11582110"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9FA582"/>
                </a:solidFill>
                <a:latin typeface="Bitter" pitchFamily="34" charset="0"/>
                <a:ea typeface="Bitter" pitchFamily="34" charset="-122"/>
                <a:cs typeface="Bitter" pitchFamily="34" charset="-120"/>
              </a:rPr>
              <a:t>JAVA ARRAYS IN THE ATM</a:t>
            </a:r>
            <a:endParaRPr lang="en-US" sz="1050" dirty="0"/>
          </a:p>
        </p:txBody>
      </p:sp>
      <p:sp>
        <p:nvSpPr>
          <p:cNvPr id="3" name="Text 1"/>
          <p:cNvSpPr/>
          <p:nvPr/>
        </p:nvSpPr>
        <p:spPr>
          <a:xfrm>
            <a:off x="609585" y="897478"/>
            <a:ext cx="10972526" cy="446980"/>
          </a:xfrm>
          <a:prstGeom prst="rect">
            <a:avLst/>
          </a:prstGeom>
          <a:noFill/>
          <a:ln/>
        </p:spPr>
        <p:txBody>
          <a:bodyPr wrap="none" lIns="0" tIns="0" rIns="0" bIns="0" rtlCol="0" anchor="t"/>
          <a:lstStyle/>
          <a:p>
            <a:pPr marL="0" indent="0" algn="l">
              <a:lnSpc>
                <a:spcPct val="92000"/>
              </a:lnSpc>
              <a:buNone/>
            </a:pPr>
            <a:r>
              <a:rPr lang="en-US" sz="3200" b="1" dirty="0">
                <a:solidFill>
                  <a:srgbClr val="E1E5CD"/>
                </a:solidFill>
                <a:latin typeface="Outfit Bold" pitchFamily="34" charset="0"/>
                <a:ea typeface="Outfit Bold" pitchFamily="34" charset="-122"/>
                <a:cs typeface="Outfit Bold" pitchFamily="34" charset="-120"/>
              </a:rPr>
              <a:t> Arrays Used In ATM Transactions</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09585" y="1494036"/>
          <a:ext cx="4556705" cy="2080366"/>
        </p:xfrm>
        <a:graphic>
          <a:graphicData uri="http://schemas.openxmlformats.org/drawingml/2006/table">
            <a:tbl>
              <a:tblPr/>
              <a:tblGrid>
                <a:gridCol w="1366942">
                  <a:extLst>
                    <a:ext uri="{9D8B030D-6E8A-4147-A177-3AD203B41FA5}">
                      <a16:colId xmlns:a16="http://schemas.microsoft.com/office/drawing/2014/main" val="20000"/>
                    </a:ext>
                  </a:extLst>
                </a:gridCol>
                <a:gridCol w="1594782">
                  <a:extLst>
                    <a:ext uri="{9D8B030D-6E8A-4147-A177-3AD203B41FA5}">
                      <a16:colId xmlns:a16="http://schemas.microsoft.com/office/drawing/2014/main" val="20001"/>
                    </a:ext>
                  </a:extLst>
                </a:gridCol>
                <a:gridCol w="1594981">
                  <a:extLst>
                    <a:ext uri="{9D8B030D-6E8A-4147-A177-3AD203B41FA5}">
                      <a16:colId xmlns:a16="http://schemas.microsoft.com/office/drawing/2014/main" val="20002"/>
                    </a:ext>
                  </a:extLst>
                </a:gridCol>
              </a:tblGrid>
              <a:tr h="646096">
                <a:tc>
                  <a:txBody>
                    <a:bodyPr/>
                    <a:lstStyle/>
                    <a:p>
                      <a:pPr marL="0" indent="0" algn="l">
                        <a:buNone/>
                      </a:pPr>
                      <a:r>
                        <a:rPr lang="en-US" sz="1400" dirty="0">
                          <a:solidFill>
                            <a:srgbClr val="E1E5CD"/>
                          </a:solidFill>
                          <a:latin typeface="Bitter" pitchFamily="34" charset="0"/>
                          <a:ea typeface="Bitter" pitchFamily="34" charset="-122"/>
                          <a:cs typeface="Bitter" pitchFamily="34" charset="-120"/>
                        </a:rPr>
                        <a:t>Index</a:t>
                      </a:r>
                      <a:endParaRPr lang="en-US" sz="1400" dirty="0">
                        <a:latin typeface="Bitter" charset="0"/>
                        <a:ea typeface="Bitter" charset="0"/>
                        <a:cs typeface="Bitter" charset="0"/>
                      </a:endParaRPr>
                    </a:p>
                  </a:txBody>
                  <a:tcPr marL="133347" marR="133347" marT="71118" marB="71118" anchor="ctr">
                    <a:lnL w="12700" cap="flat" cmpd="sng" algn="ctr">
                      <a:solidFill>
                        <a:srgbClr val="525355"/>
                      </a:solidFill>
                      <a:prstDash val="solid"/>
                      <a:round/>
                      <a:headEnd type="none" w="med" len="med"/>
                      <a:tailEnd type="none" w="med" len="med"/>
                    </a:lnL>
                    <a:lnR w="12700" cap="flat" cmpd="sng" algn="ctr">
                      <a:solidFill>
                        <a:srgbClr val="525355"/>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525355"/>
                      </a:solidFill>
                      <a:prstDash val="solid"/>
                      <a:round/>
                      <a:headEnd type="none" w="med" len="med"/>
                      <a:tailEnd type="none" w="med" len="med"/>
                    </a:lnB>
                  </a:tcPr>
                </a:tc>
                <a:tc>
                  <a:txBody>
                    <a:bodyPr/>
                    <a:lstStyle/>
                    <a:p>
                      <a:pPr marL="0" indent="0" algn="l">
                        <a:buNone/>
                      </a:pPr>
                      <a:r>
                        <a:rPr lang="en-US" sz="1400" dirty="0">
                          <a:solidFill>
                            <a:srgbClr val="E1E5CD"/>
                          </a:solidFill>
                          <a:latin typeface="Bitter" pitchFamily="34" charset="0"/>
                          <a:ea typeface="Bitter" pitchFamily="34" charset="-122"/>
                          <a:cs typeface="Bitter" pitchFamily="34" charset="-120"/>
                        </a:rPr>
                        <a:t>Transaction amount</a:t>
                      </a:r>
                      <a:endParaRPr lang="en-US" sz="1400" dirty="0">
                        <a:latin typeface="Bitter" charset="0"/>
                        <a:ea typeface="Bitter" charset="0"/>
                        <a:cs typeface="Bitter" charset="0"/>
                      </a:endParaRPr>
                    </a:p>
                  </a:txBody>
                  <a:tcPr marL="133347" marR="133347" marT="71118" marB="71118" anchor="ctr">
                    <a:lnL w="12700" cap="flat" cmpd="sng" algn="ctr">
                      <a:solidFill>
                        <a:srgbClr val="525355"/>
                      </a:solidFill>
                      <a:prstDash val="solid"/>
                      <a:round/>
                      <a:headEnd type="none" w="med" len="med"/>
                      <a:tailEnd type="none" w="med" len="med"/>
                    </a:lnL>
                    <a:lnR w="12700" cap="flat" cmpd="sng" algn="ctr">
                      <a:solidFill>
                        <a:srgbClr val="525355"/>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525355"/>
                      </a:solidFill>
                      <a:prstDash val="solid"/>
                      <a:round/>
                      <a:headEnd type="none" w="med" len="med"/>
                      <a:tailEnd type="none" w="med" len="med"/>
                    </a:lnB>
                  </a:tcPr>
                </a:tc>
                <a:tc>
                  <a:txBody>
                    <a:bodyPr/>
                    <a:lstStyle/>
                    <a:p>
                      <a:pPr marL="0" indent="0" algn="l">
                        <a:buNone/>
                      </a:pPr>
                      <a:r>
                        <a:rPr lang="en-US" sz="1400" dirty="0">
                          <a:solidFill>
                            <a:srgbClr val="E1E5CD"/>
                          </a:solidFill>
                          <a:latin typeface="Bitter" pitchFamily="34" charset="0"/>
                          <a:ea typeface="Bitter" pitchFamily="34" charset="-122"/>
                          <a:cs typeface="Bitter" pitchFamily="34" charset="-120"/>
                        </a:rPr>
                        <a:t>Meaning</a:t>
                      </a:r>
                      <a:endParaRPr lang="en-US" sz="1400" dirty="0">
                        <a:latin typeface="Bitter" charset="0"/>
                        <a:ea typeface="Bitter" charset="0"/>
                        <a:cs typeface="Bitter" charset="0"/>
                      </a:endParaRPr>
                    </a:p>
                  </a:txBody>
                  <a:tcPr marL="133347" marR="133347" marT="71118" marB="71118" anchor="ctr">
                    <a:lnL w="12700" cap="flat" cmpd="sng" algn="ctr">
                      <a:solidFill>
                        <a:srgbClr val="525355"/>
                      </a:solidFill>
                      <a:prstDash val="solid"/>
                      <a:round/>
                      <a:headEnd type="none" w="med" len="med"/>
                      <a:tailEnd type="none" w="med" len="med"/>
                    </a:lnL>
                    <a:lnR w="12700" cap="flat" cmpd="sng" algn="ctr">
                      <a:solidFill>
                        <a:srgbClr val="525355"/>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525355"/>
                      </a:solidFill>
                      <a:prstDash val="solid"/>
                      <a:round/>
                      <a:headEnd type="none" w="med" len="med"/>
                      <a:tailEnd type="none" w="med" len="med"/>
                    </a:lnB>
                  </a:tcPr>
                </a:tc>
                <a:extLst>
                  <a:ext uri="{0D108BD9-81ED-4DB2-BD59-A6C34878D82A}">
                    <a16:rowId xmlns:a16="http://schemas.microsoft.com/office/drawing/2014/main" val="10000"/>
                  </a:ext>
                </a:extLst>
              </a:tr>
              <a:tr h="397262">
                <a:tc>
                  <a:txBody>
                    <a:bodyPr/>
                    <a:lstStyle/>
                    <a:p>
                      <a:pPr marL="0" indent="0" algn="l">
                        <a:buNone/>
                      </a:pPr>
                      <a:r>
                        <a:rPr lang="en-US" sz="1400" dirty="0">
                          <a:solidFill>
                            <a:srgbClr val="C2C4B5"/>
                          </a:solidFill>
                          <a:latin typeface="Bitter" pitchFamily="34" charset="0"/>
                          <a:ea typeface="Bitter" pitchFamily="34" charset="-122"/>
                          <a:cs typeface="Bitter" pitchFamily="34" charset="-120"/>
                        </a:rPr>
                        <a:t>0</a:t>
                      </a:r>
                      <a:endParaRPr lang="en-US" sz="1400" dirty="0">
                        <a:latin typeface="Bitter" charset="0"/>
                        <a:ea typeface="Bitter" charset="0"/>
                        <a:cs typeface="Bitter" charset="0"/>
                      </a:endParaRPr>
                    </a:p>
                  </a:txBody>
                  <a:tcPr marL="133347" marR="133347" marT="71118" marB="71118" anchor="ctr">
                    <a:lnL w="12700" cap="flat" cmpd="sng" algn="ctr">
                      <a:solidFill>
                        <a:srgbClr val="525355"/>
                      </a:solidFill>
                      <a:prstDash val="solid"/>
                      <a:round/>
                      <a:headEnd type="none" w="med" len="med"/>
                      <a:tailEnd type="none" w="med" len="med"/>
                    </a:lnL>
                    <a:lnR w="12700" cap="flat" cmpd="sng" algn="ctr">
                      <a:solidFill>
                        <a:srgbClr val="525355"/>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525355"/>
                      </a:solidFill>
                      <a:prstDash val="solid"/>
                      <a:round/>
                      <a:headEnd type="none" w="med" len="med"/>
                      <a:tailEnd type="none" w="med" len="med"/>
                    </a:lnB>
                  </a:tcPr>
                </a:tc>
                <a:tc>
                  <a:txBody>
                    <a:bodyPr/>
                    <a:lstStyle/>
                    <a:p>
                      <a:pPr marL="0" indent="0" algn="l">
                        <a:buNone/>
                      </a:pPr>
                      <a:r>
                        <a:rPr lang="en-US" sz="1400" dirty="0">
                          <a:solidFill>
                            <a:srgbClr val="C2C4B5"/>
                          </a:solidFill>
                          <a:latin typeface="Bitter" pitchFamily="34" charset="0"/>
                          <a:ea typeface="Bitter" pitchFamily="34" charset="-122"/>
                          <a:cs typeface="Bitter" pitchFamily="34" charset="-120"/>
                        </a:rPr>
                        <a:t>120.50</a:t>
                      </a:r>
                      <a:endParaRPr lang="en-US" sz="1400" dirty="0">
                        <a:latin typeface="Bitter" charset="0"/>
                        <a:ea typeface="Bitter" charset="0"/>
                        <a:cs typeface="Bitter" charset="0"/>
                      </a:endParaRPr>
                    </a:p>
                  </a:txBody>
                  <a:tcPr marL="133347" marR="133347" marT="71118" marB="71118" anchor="ctr">
                    <a:lnL w="12700" cap="flat" cmpd="sng" algn="ctr">
                      <a:solidFill>
                        <a:srgbClr val="525355"/>
                      </a:solidFill>
                      <a:prstDash val="solid"/>
                      <a:round/>
                      <a:headEnd type="none" w="med" len="med"/>
                      <a:tailEnd type="none" w="med" len="med"/>
                    </a:lnL>
                    <a:lnR w="12700" cap="flat" cmpd="sng" algn="ctr">
                      <a:solidFill>
                        <a:srgbClr val="525355"/>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525355"/>
                      </a:solidFill>
                      <a:prstDash val="solid"/>
                      <a:round/>
                      <a:headEnd type="none" w="med" len="med"/>
                      <a:tailEnd type="none" w="med" len="med"/>
                    </a:lnB>
                  </a:tcPr>
                </a:tc>
                <a:tc>
                  <a:txBody>
                    <a:bodyPr/>
                    <a:lstStyle/>
                    <a:p>
                      <a:pPr marL="0" indent="0" algn="l">
                        <a:buNone/>
                      </a:pPr>
                      <a:r>
                        <a:rPr lang="en-US" sz="1400" dirty="0">
                          <a:solidFill>
                            <a:srgbClr val="C2C4B5"/>
                          </a:solidFill>
                          <a:latin typeface="Bitter" pitchFamily="34" charset="0"/>
                          <a:ea typeface="Bitter" pitchFamily="34" charset="-122"/>
                          <a:cs typeface="Bitter" pitchFamily="34" charset="-120"/>
                        </a:rPr>
                        <a:t>First deposit</a:t>
                      </a:r>
                      <a:endParaRPr lang="en-US" sz="1400" dirty="0">
                        <a:latin typeface="Bitter" charset="0"/>
                        <a:ea typeface="Bitter" charset="0"/>
                        <a:cs typeface="Bitter" charset="0"/>
                      </a:endParaRPr>
                    </a:p>
                  </a:txBody>
                  <a:tcPr marL="133347" marR="133347" marT="71118" marB="71118" anchor="ctr">
                    <a:lnL w="12700" cap="flat" cmpd="sng" algn="ctr">
                      <a:solidFill>
                        <a:srgbClr val="525355"/>
                      </a:solidFill>
                      <a:prstDash val="solid"/>
                      <a:round/>
                      <a:headEnd type="none" w="med" len="med"/>
                      <a:tailEnd type="none" w="med" len="med"/>
                    </a:lnL>
                    <a:lnR w="12700" cap="flat" cmpd="sng" algn="ctr">
                      <a:solidFill>
                        <a:srgbClr val="525355"/>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525355"/>
                      </a:solidFill>
                      <a:prstDash val="solid"/>
                      <a:round/>
                      <a:headEnd type="none" w="med" len="med"/>
                      <a:tailEnd type="none" w="med" len="med"/>
                    </a:lnB>
                  </a:tcPr>
                </a:tc>
                <a:extLst>
                  <a:ext uri="{0D108BD9-81ED-4DB2-BD59-A6C34878D82A}">
                    <a16:rowId xmlns:a16="http://schemas.microsoft.com/office/drawing/2014/main" val="10001"/>
                  </a:ext>
                </a:extLst>
              </a:tr>
              <a:tr h="646096">
                <a:tc>
                  <a:txBody>
                    <a:bodyPr/>
                    <a:lstStyle/>
                    <a:p>
                      <a:pPr marL="0" indent="0" algn="l">
                        <a:buNone/>
                      </a:pPr>
                      <a:r>
                        <a:rPr lang="en-US" sz="1400" dirty="0">
                          <a:solidFill>
                            <a:srgbClr val="C2C4B5"/>
                          </a:solidFill>
                          <a:latin typeface="Bitter" pitchFamily="34" charset="0"/>
                          <a:ea typeface="Bitter" pitchFamily="34" charset="-122"/>
                          <a:cs typeface="Bitter" pitchFamily="34" charset="-120"/>
                        </a:rPr>
                        <a:t>1</a:t>
                      </a:r>
                      <a:endParaRPr lang="en-US" sz="1400" dirty="0">
                        <a:latin typeface="Bitter" charset="0"/>
                        <a:ea typeface="Bitter" charset="0"/>
                        <a:cs typeface="Bitter" charset="0"/>
                      </a:endParaRPr>
                    </a:p>
                  </a:txBody>
                  <a:tcPr marL="133347" marR="133347" marT="71118" marB="71118" anchor="ctr">
                    <a:lnL w="12700" cap="flat" cmpd="sng" algn="ctr">
                      <a:solidFill>
                        <a:srgbClr val="525355"/>
                      </a:solidFill>
                      <a:prstDash val="solid"/>
                      <a:round/>
                      <a:headEnd type="none" w="med" len="med"/>
                      <a:tailEnd type="none" w="med" len="med"/>
                    </a:lnL>
                    <a:lnR w="12700" cap="flat" cmpd="sng" algn="ctr">
                      <a:solidFill>
                        <a:srgbClr val="525355"/>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525355"/>
                      </a:solidFill>
                      <a:prstDash val="solid"/>
                      <a:round/>
                      <a:headEnd type="none" w="med" len="med"/>
                      <a:tailEnd type="none" w="med" len="med"/>
                    </a:lnB>
                  </a:tcPr>
                </a:tc>
                <a:tc>
                  <a:txBody>
                    <a:bodyPr/>
                    <a:lstStyle/>
                    <a:p>
                      <a:pPr marL="0" indent="0" algn="l">
                        <a:buNone/>
                      </a:pPr>
                      <a:r>
                        <a:rPr lang="en-US" sz="1400" dirty="0">
                          <a:solidFill>
                            <a:srgbClr val="C2C4B5"/>
                          </a:solidFill>
                          <a:latin typeface="Bitter" pitchFamily="34" charset="0"/>
                          <a:ea typeface="Bitter" pitchFamily="34" charset="-122"/>
                          <a:cs typeface="Bitter" pitchFamily="34" charset="-120"/>
                        </a:rPr>
                        <a:t>45.00</a:t>
                      </a:r>
                      <a:endParaRPr lang="en-US" sz="1400" dirty="0">
                        <a:latin typeface="Bitter" charset="0"/>
                        <a:ea typeface="Bitter" charset="0"/>
                        <a:cs typeface="Bitter" charset="0"/>
                      </a:endParaRPr>
                    </a:p>
                  </a:txBody>
                  <a:tcPr marL="133347" marR="133347" marT="71118" marB="71118" anchor="ctr">
                    <a:lnL w="12700" cap="flat" cmpd="sng" algn="ctr">
                      <a:solidFill>
                        <a:srgbClr val="525355"/>
                      </a:solidFill>
                      <a:prstDash val="solid"/>
                      <a:round/>
                      <a:headEnd type="none" w="med" len="med"/>
                      <a:tailEnd type="none" w="med" len="med"/>
                    </a:lnL>
                    <a:lnR w="12700" cap="flat" cmpd="sng" algn="ctr">
                      <a:solidFill>
                        <a:srgbClr val="525355"/>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525355"/>
                      </a:solidFill>
                      <a:prstDash val="solid"/>
                      <a:round/>
                      <a:headEnd type="none" w="med" len="med"/>
                      <a:tailEnd type="none" w="med" len="med"/>
                    </a:lnB>
                  </a:tcPr>
                </a:tc>
                <a:tc>
                  <a:txBody>
                    <a:bodyPr/>
                    <a:lstStyle/>
                    <a:p>
                      <a:pPr marL="0" indent="0" algn="l">
                        <a:buNone/>
                      </a:pPr>
                      <a:r>
                        <a:rPr lang="en-US" sz="1400" dirty="0">
                          <a:solidFill>
                            <a:srgbClr val="C2C4B5"/>
                          </a:solidFill>
                          <a:latin typeface="Bitter" pitchFamily="34" charset="0"/>
                          <a:ea typeface="Bitter" pitchFamily="34" charset="-122"/>
                          <a:cs typeface="Bitter" pitchFamily="34" charset="-120"/>
                        </a:rPr>
                        <a:t>Cash withdrawal</a:t>
                      </a:r>
                      <a:endParaRPr lang="en-US" sz="1400" dirty="0">
                        <a:latin typeface="Bitter" charset="0"/>
                        <a:ea typeface="Bitter" charset="0"/>
                        <a:cs typeface="Bitter" charset="0"/>
                      </a:endParaRPr>
                    </a:p>
                  </a:txBody>
                  <a:tcPr marL="133347" marR="133347" marT="71118" marB="71118" anchor="ctr">
                    <a:lnL w="12700" cap="flat" cmpd="sng" algn="ctr">
                      <a:solidFill>
                        <a:srgbClr val="525355"/>
                      </a:solidFill>
                      <a:prstDash val="solid"/>
                      <a:round/>
                      <a:headEnd type="none" w="med" len="med"/>
                      <a:tailEnd type="none" w="med" len="med"/>
                    </a:lnL>
                    <a:lnR w="12700" cap="flat" cmpd="sng" algn="ctr">
                      <a:solidFill>
                        <a:srgbClr val="525355"/>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525355"/>
                      </a:solidFill>
                      <a:prstDash val="solid"/>
                      <a:round/>
                      <a:headEnd type="none" w="med" len="med"/>
                      <a:tailEnd type="none" w="med" len="med"/>
                    </a:lnB>
                  </a:tcPr>
                </a:tc>
                <a:extLst>
                  <a:ext uri="{0D108BD9-81ED-4DB2-BD59-A6C34878D82A}">
                    <a16:rowId xmlns:a16="http://schemas.microsoft.com/office/drawing/2014/main" val="10002"/>
                  </a:ext>
                </a:extLst>
              </a:tr>
              <a:tr h="390912">
                <a:tc>
                  <a:txBody>
                    <a:bodyPr/>
                    <a:lstStyle/>
                    <a:p>
                      <a:pPr marL="0" indent="0" algn="l">
                        <a:buNone/>
                      </a:pPr>
                      <a:r>
                        <a:rPr lang="en-US" sz="1400" dirty="0">
                          <a:solidFill>
                            <a:srgbClr val="C2C4B5"/>
                          </a:solidFill>
                          <a:latin typeface="Bitter" pitchFamily="34" charset="0"/>
                          <a:ea typeface="Bitter" pitchFamily="34" charset="-122"/>
                          <a:cs typeface="Bitter" pitchFamily="34" charset="-120"/>
                        </a:rPr>
                        <a:t>2</a:t>
                      </a:r>
                      <a:endParaRPr lang="en-US" sz="1400" dirty="0">
                        <a:latin typeface="Bitter" charset="0"/>
                        <a:ea typeface="Bitter" charset="0"/>
                        <a:cs typeface="Bitter" charset="0"/>
                      </a:endParaRPr>
                    </a:p>
                  </a:txBody>
                  <a:tcPr marL="133347" marR="133347" marT="71118" marB="71118" anchor="ctr">
                    <a:lnL w="12700" cap="flat" cmpd="sng" algn="ctr">
                      <a:solidFill>
                        <a:srgbClr val="525355"/>
                      </a:solidFill>
                      <a:prstDash val="solid"/>
                      <a:round/>
                      <a:headEnd type="none" w="med" len="med"/>
                      <a:tailEnd type="none" w="med" len="med"/>
                    </a:lnL>
                    <a:lnR w="12700" cap="flat" cmpd="sng" algn="ctr">
                      <a:solidFill>
                        <a:srgbClr val="525355"/>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525355"/>
                      </a:solidFill>
                      <a:prstDash val="solid"/>
                      <a:round/>
                      <a:headEnd type="none" w="med" len="med"/>
                      <a:tailEnd type="none" w="med" len="med"/>
                    </a:lnB>
                  </a:tcPr>
                </a:tc>
                <a:tc>
                  <a:txBody>
                    <a:bodyPr/>
                    <a:lstStyle/>
                    <a:p>
                      <a:pPr marL="0" indent="0" algn="l">
                        <a:buNone/>
                      </a:pPr>
                      <a:r>
                        <a:rPr lang="en-US" sz="1400" dirty="0">
                          <a:solidFill>
                            <a:srgbClr val="C2C4B5"/>
                          </a:solidFill>
                          <a:latin typeface="Bitter" pitchFamily="34" charset="0"/>
                          <a:ea typeface="Bitter" pitchFamily="34" charset="-122"/>
                          <a:cs typeface="Bitter" pitchFamily="34" charset="-120"/>
                        </a:rPr>
                        <a:t>300.75</a:t>
                      </a:r>
                      <a:endParaRPr lang="en-US" sz="1400" dirty="0">
                        <a:latin typeface="Bitter" charset="0"/>
                        <a:ea typeface="Bitter" charset="0"/>
                        <a:cs typeface="Bitter" charset="0"/>
                      </a:endParaRPr>
                    </a:p>
                  </a:txBody>
                  <a:tcPr marL="133347" marR="133347" marT="71118" marB="71118" anchor="ctr">
                    <a:lnL w="12700" cap="flat" cmpd="sng" algn="ctr">
                      <a:solidFill>
                        <a:srgbClr val="525355"/>
                      </a:solidFill>
                      <a:prstDash val="solid"/>
                      <a:round/>
                      <a:headEnd type="none" w="med" len="med"/>
                      <a:tailEnd type="none" w="med" len="med"/>
                    </a:lnL>
                    <a:lnR w="12700" cap="flat" cmpd="sng" algn="ctr">
                      <a:solidFill>
                        <a:srgbClr val="525355"/>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525355"/>
                      </a:solidFill>
                      <a:prstDash val="solid"/>
                      <a:round/>
                      <a:headEnd type="none" w="med" len="med"/>
                      <a:tailEnd type="none" w="med" len="med"/>
                    </a:lnB>
                  </a:tcPr>
                </a:tc>
                <a:tc>
                  <a:txBody>
                    <a:bodyPr/>
                    <a:lstStyle/>
                    <a:p>
                      <a:pPr marL="0" indent="0" algn="l">
                        <a:buNone/>
                      </a:pPr>
                      <a:r>
                        <a:rPr lang="en-US" sz="1400" dirty="0">
                          <a:solidFill>
                            <a:srgbClr val="C2C4B5"/>
                          </a:solidFill>
                          <a:latin typeface="Bitter" pitchFamily="34" charset="0"/>
                          <a:ea typeface="Bitter" pitchFamily="34" charset="-122"/>
                          <a:cs typeface="Bitter" pitchFamily="34" charset="-120"/>
                        </a:rPr>
                        <a:t>Second deposit</a:t>
                      </a:r>
                      <a:endParaRPr lang="en-US" sz="1400" dirty="0">
                        <a:latin typeface="Bitter" charset="0"/>
                        <a:ea typeface="Bitter" charset="0"/>
                        <a:cs typeface="Bitter" charset="0"/>
                      </a:endParaRPr>
                    </a:p>
                  </a:txBody>
                  <a:tcPr marL="133347" marR="133347" marT="71118" marB="71118" anchor="ctr">
                    <a:lnL w="12700" cap="flat" cmpd="sng" algn="ctr">
                      <a:solidFill>
                        <a:srgbClr val="525355"/>
                      </a:solidFill>
                      <a:prstDash val="solid"/>
                      <a:round/>
                      <a:headEnd type="none" w="med" len="med"/>
                      <a:tailEnd type="none" w="med" len="med"/>
                    </a:lnL>
                    <a:lnR w="12700" cap="flat" cmpd="sng" algn="ctr">
                      <a:solidFill>
                        <a:srgbClr val="525355"/>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525355"/>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ext 2"/>
          <p:cNvSpPr/>
          <p:nvPr/>
        </p:nvSpPr>
        <p:spPr>
          <a:xfrm>
            <a:off x="609585" y="3691930"/>
            <a:ext cx="4556706" cy="186630"/>
          </a:xfrm>
          <a:prstGeom prst="rect">
            <a:avLst/>
          </a:prstGeom>
          <a:noFill/>
          <a:ln/>
        </p:spPr>
        <p:txBody>
          <a:bodyPr wrap="none" lIns="0" tIns="0" rIns="0" bIns="0" rtlCol="0" anchor="t"/>
          <a:lstStyle/>
          <a:p>
            <a:pPr marL="0" indent="0" algn="l">
              <a:lnSpc>
                <a:spcPct val="117000"/>
              </a:lnSpc>
              <a:buNone/>
            </a:pPr>
            <a:r>
              <a:rPr lang="en-US" sz="1050" dirty="0">
                <a:solidFill>
                  <a:srgbClr val="C2C4B5"/>
                </a:solidFill>
                <a:latin typeface="Bitter" pitchFamily="34" charset="0"/>
                <a:ea typeface="Bitter" pitchFamily="34" charset="-122"/>
                <a:cs typeface="Bitter" pitchFamily="34" charset="-120"/>
              </a:rPr>
              <a:t>Count = transactions.length = 3</a:t>
            </a:r>
            <a:endParaRPr lang="en-US" sz="1050" dirty="0"/>
          </a:p>
        </p:txBody>
      </p:sp>
      <p:sp>
        <p:nvSpPr>
          <p:cNvPr id="6" name="Shape 3"/>
          <p:cNvSpPr/>
          <p:nvPr/>
        </p:nvSpPr>
        <p:spPr>
          <a:xfrm>
            <a:off x="5623380" y="1694061"/>
            <a:ext cx="5958731" cy="2346821"/>
          </a:xfrm>
          <a:prstGeom prst="roundRect">
            <a:avLst>
              <a:gd name="adj" fmla="val 1136"/>
            </a:avLst>
          </a:prstGeom>
          <a:solidFill>
            <a:srgbClr val="292A2C"/>
          </a:solidFill>
          <a:ln/>
        </p:spPr>
      </p:sp>
      <p:sp>
        <p:nvSpPr>
          <p:cNvPr id="4" name="Text 4"/>
          <p:cNvSpPr/>
          <p:nvPr/>
        </p:nvSpPr>
        <p:spPr>
          <a:xfrm>
            <a:off x="5836695" y="1872178"/>
            <a:ext cx="5532101" cy="1991221"/>
          </a:xfrm>
          <a:prstGeom prst="rect">
            <a:avLst/>
          </a:prstGeom>
          <a:noFill/>
          <a:ln/>
        </p:spPr>
        <p:txBody>
          <a:bodyPr wrap="square" lIns="0" tIns="0" rIns="0" bIns="0" rtlCol="0" anchor="t">
            <a:normAutofit fontScale="92500" lnSpcReduction="10000"/>
          </a:bodyPr>
          <a:lstStyle/>
          <a:p>
            <a:pPr marL="0" indent="0" algn="l">
              <a:lnSpc>
                <a:spcPct val="133000"/>
              </a:lnSpc>
              <a:buNone/>
            </a:pPr>
            <a:r>
              <a:rPr lang="en-US" sz="1400" dirty="0">
                <a:solidFill>
                  <a:srgbClr val="FF7B72"/>
                </a:solidFill>
                <a:latin typeface="Consolas" pitchFamily="34" charset="0"/>
                <a:ea typeface="Consolas" pitchFamily="34" charset="-122"/>
                <a:cs typeface="Consolas" pitchFamily="34" charset="-120"/>
              </a:rPr>
              <a:t>double[] transactions = {120.50, 45.00, 300.75};</a:t>
            </a:r>
            <a:endParaRPr lang="en-US" sz="1400" dirty="0"/>
          </a:p>
          <a:p>
            <a:pPr marL="0" indent="0" algn="l">
              <a:lnSpc>
                <a:spcPct val="133000"/>
              </a:lnSpc>
              <a:buNone/>
            </a:pPr>
            <a:r>
              <a:rPr lang="en-US" sz="1400" dirty="0">
                <a:solidFill>
                  <a:srgbClr val="FF7B72"/>
                </a:solidFill>
                <a:latin typeface="Consolas" pitchFamily="34" charset="0"/>
                <a:ea typeface="Consolas" pitchFamily="34" charset="-122"/>
                <a:cs typeface="Consolas" pitchFamily="34" charset="-120"/>
              </a:rPr>
              <a:t>int count = transactions.length;</a:t>
            </a:r>
            <a:endParaRPr lang="en-US" sz="1400" dirty="0"/>
          </a:p>
          <a:p>
            <a:pPr marL="0" indent="0" algn="l">
              <a:lnSpc>
                <a:spcPct val="133000"/>
              </a:lnSpc>
              <a:buNone/>
            </a:pPr>
            <a:endParaRPr lang="en-US" sz="1400" dirty="0"/>
          </a:p>
          <a:p>
            <a:pPr marL="0" indent="0" algn="l">
              <a:lnSpc>
                <a:spcPct val="133000"/>
              </a:lnSpc>
              <a:buNone/>
            </a:pPr>
            <a:r>
              <a:rPr lang="en-US" sz="1400" dirty="0">
                <a:solidFill>
                  <a:srgbClr val="FF7B72"/>
                </a:solidFill>
                <a:latin typeface="Consolas" pitchFamily="34" charset="0"/>
                <a:ea typeface="Consolas" pitchFamily="34" charset="-122"/>
                <a:cs typeface="Consolas" pitchFamily="34" charset="-120"/>
              </a:rPr>
              <a:t>System.out.println("Transaction history:");</a:t>
            </a:r>
            <a:endParaRPr lang="en-US" sz="1400" dirty="0"/>
          </a:p>
          <a:p>
            <a:pPr marL="0" indent="0" algn="l">
              <a:lnSpc>
                <a:spcPct val="133000"/>
              </a:lnSpc>
              <a:buNone/>
            </a:pPr>
            <a:r>
              <a:rPr lang="en-US" sz="1400" dirty="0">
                <a:solidFill>
                  <a:srgbClr val="FF7B72"/>
                </a:solidFill>
                <a:latin typeface="Consolas" pitchFamily="34" charset="0"/>
                <a:ea typeface="Consolas" pitchFamily="34" charset="-122"/>
                <a:cs typeface="Consolas" pitchFamily="34" charset="-120"/>
              </a:rPr>
              <a:t>for (int i = 0; i &lt; count; i++) {</a:t>
            </a:r>
            <a:endParaRPr lang="en-US" sz="1400" dirty="0"/>
          </a:p>
          <a:p>
            <a:pPr marL="0" indent="0" algn="l">
              <a:lnSpc>
                <a:spcPct val="133000"/>
              </a:lnSpc>
              <a:buNone/>
            </a:pPr>
            <a:r>
              <a:rPr lang="en-US" sz="1400" dirty="0">
                <a:solidFill>
                  <a:srgbClr val="FF7B72"/>
                </a:solidFill>
                <a:latin typeface="Consolas" pitchFamily="34" charset="0"/>
                <a:ea typeface="Consolas" pitchFamily="34" charset="-122"/>
                <a:cs typeface="Consolas" pitchFamily="34" charset="-120"/>
              </a:rPr>
              <a:t>    System.out.println("Index " + i + ": $" + transactions[i]);</a:t>
            </a:r>
            <a:endParaRPr lang="en-US" sz="1400" dirty="0"/>
          </a:p>
          <a:p>
            <a:pPr marL="0" indent="0" algn="l">
              <a:lnSpc>
                <a:spcPct val="133000"/>
              </a:lnSpc>
              <a:buNone/>
            </a:pPr>
            <a:r>
              <a:rPr lang="en-US" sz="1400" dirty="0">
                <a:solidFill>
                  <a:srgbClr val="FF7B72"/>
                </a:solidFill>
                <a:latin typeface="Consolas" pitchFamily="34" charset="0"/>
                <a:ea typeface="Consolas" pitchFamily="34" charset="-122"/>
                <a:cs typeface="Consolas" pitchFamily="34" charset="-120"/>
              </a:rPr>
              <a:t>}</a:t>
            </a:r>
            <a:endParaRPr lang="en-US" sz="1400" dirty="0"/>
          </a:p>
        </p:txBody>
      </p:sp>
      <p:sp>
        <p:nvSpPr>
          <p:cNvPr id="8" name="Text 5"/>
          <p:cNvSpPr/>
          <p:nvPr/>
        </p:nvSpPr>
        <p:spPr>
          <a:xfrm>
            <a:off x="609585" y="4399657"/>
            <a:ext cx="11582110" cy="248841"/>
          </a:xfrm>
          <a:prstGeom prst="rect">
            <a:avLst/>
          </a:prstGeom>
          <a:noFill/>
          <a:ln/>
        </p:spPr>
        <p:txBody>
          <a:bodyPr wrap="none" lIns="0" tIns="0" rIns="0" bIns="0" rtlCol="0" anchor="t"/>
          <a:lstStyle/>
          <a:p>
            <a:pPr marL="0" indent="0" algn="l">
              <a:lnSpc>
                <a:spcPct val="117000"/>
              </a:lnSpc>
              <a:buNone/>
            </a:pPr>
            <a:r>
              <a:rPr lang="en-US" sz="1400" dirty="0">
                <a:solidFill>
                  <a:srgbClr val="C2C4B5"/>
                </a:solidFill>
                <a:latin typeface="Bitter" pitchFamily="34" charset="0"/>
                <a:ea typeface="Bitter" pitchFamily="34" charset="-122"/>
                <a:cs typeface="Bitter" pitchFamily="34" charset="-120"/>
              </a:rPr>
              <a:t>Each index stores one amount, so a loop can show the full history in order.</a:t>
            </a:r>
            <a:endParaRPr lang="en-US" sz="1400" dirty="0"/>
          </a:p>
        </p:txBody>
      </p:sp>
      <p:sp>
        <p:nvSpPr>
          <p:cNvPr id="9" name="Text 6"/>
          <p:cNvSpPr/>
          <p:nvPr/>
        </p:nvSpPr>
        <p:spPr>
          <a:xfrm>
            <a:off x="11935816" y="6466086"/>
            <a:ext cx="255879" cy="174129"/>
          </a:xfrm>
          <a:prstGeom prst="rect">
            <a:avLst/>
          </a:prstGeom>
          <a:noFill/>
          <a:ln/>
        </p:spPr>
        <p:txBody>
          <a:bodyPr wrap="none" lIns="0" tIns="0" rIns="0" bIns="0" rtlCol="0" anchor="ctr"/>
          <a:lstStyle/>
          <a:p>
            <a:pPr marL="0" indent="0" algn="l">
              <a:lnSpc>
                <a:spcPct val="117000"/>
              </a:lnSpc>
              <a:buNone/>
            </a:pPr>
            <a:r>
              <a:rPr lang="en-US" sz="1000" kern="100" spc="39" dirty="0">
                <a:solidFill>
                  <a:srgbClr val="C2C4B5"/>
                </a:solidFill>
                <a:latin typeface="Bitter" pitchFamily="34" charset="0"/>
                <a:ea typeface="Bitter" pitchFamily="34" charset="-122"/>
                <a:cs typeface="Bitter"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09585" y="1259031"/>
            <a:ext cx="10972526" cy="446980"/>
          </a:xfrm>
          <a:prstGeom prst="rect">
            <a:avLst/>
          </a:prstGeom>
          <a:noFill/>
          <a:ln/>
        </p:spPr>
        <p:txBody>
          <a:bodyPr wrap="none" lIns="0" tIns="0" rIns="0" bIns="0" rtlCol="0" anchor="t"/>
          <a:lstStyle/>
          <a:p>
            <a:pPr marL="0" indent="0" algn="l">
              <a:lnSpc>
                <a:spcPct val="92000"/>
              </a:lnSpc>
              <a:buNone/>
            </a:pPr>
            <a:r>
              <a:rPr lang="en-US" sz="3200" b="1" dirty="0">
                <a:solidFill>
                  <a:srgbClr val="E1E5CD"/>
                </a:solidFill>
                <a:latin typeface="Outfit Bold" pitchFamily="34" charset="0"/>
                <a:ea typeface="Outfit Bold" pitchFamily="34" charset="-122"/>
                <a:cs typeface="Outfit Bold" pitchFamily="34" charset="-120"/>
              </a:rPr>
              <a:t>Methods used in Atm Transaction</a:t>
            </a:r>
            <a:endParaRPr lang="en-US" sz="3200" dirty="0"/>
          </a:p>
        </p:txBody>
      </p:sp>
      <p:sp>
        <p:nvSpPr>
          <p:cNvPr id="3" name="Text 1"/>
          <p:cNvSpPr/>
          <p:nvPr/>
        </p:nvSpPr>
        <p:spPr>
          <a:xfrm>
            <a:off x="609585" y="1852360"/>
            <a:ext cx="10972526" cy="474861"/>
          </a:xfrm>
          <a:prstGeom prst="rect">
            <a:avLst/>
          </a:prstGeom>
          <a:noFill/>
          <a:ln/>
        </p:spPr>
        <p:txBody>
          <a:bodyPr wrap="square" lIns="0" tIns="0" rIns="0" bIns="0" rtlCol="0" anchor="t">
            <a:normAutofit lnSpcReduction="10000"/>
          </a:bodyPr>
          <a:lstStyle/>
          <a:p>
            <a:pPr marL="0" indent="0" algn="l">
              <a:lnSpc>
                <a:spcPct val="92000"/>
              </a:lnSpc>
              <a:buNone/>
            </a:pPr>
            <a:r>
              <a:rPr lang="en-US" sz="1700" b="1" dirty="0">
                <a:solidFill>
                  <a:srgbClr val="E1E5CD"/>
                </a:solidFill>
                <a:latin typeface="Outfit Bold" pitchFamily="34" charset="0"/>
                <a:ea typeface="Outfit Bold" pitchFamily="34" charset="-122"/>
                <a:cs typeface="Outfit Bold" pitchFamily="34" charset="-120"/>
              </a:rPr>
              <a:t>In an ATM system, methods perform operations such as checking balance, depositing money, and withdrawing money. They improve code reusability, readability, and organization.</a:t>
            </a:r>
            <a:endParaRPr lang="en-US" sz="1700" dirty="0"/>
          </a:p>
        </p:txBody>
      </p:sp>
      <p:sp>
        <p:nvSpPr>
          <p:cNvPr id="4" name="Shape 2"/>
          <p:cNvSpPr/>
          <p:nvPr/>
        </p:nvSpPr>
        <p:spPr>
          <a:xfrm>
            <a:off x="609585" y="2511425"/>
            <a:ext cx="10972526" cy="2915741"/>
          </a:xfrm>
          <a:prstGeom prst="roundRect">
            <a:avLst>
              <a:gd name="adj" fmla="val 915"/>
            </a:avLst>
          </a:prstGeom>
          <a:solidFill>
            <a:srgbClr val="292A2C"/>
          </a:solidFill>
          <a:ln/>
        </p:spPr>
      </p:sp>
      <p:sp>
        <p:nvSpPr>
          <p:cNvPr id="5" name="Text 3"/>
          <p:cNvSpPr/>
          <p:nvPr/>
        </p:nvSpPr>
        <p:spPr>
          <a:xfrm>
            <a:off x="822900" y="2689542"/>
            <a:ext cx="10545896" cy="2560141"/>
          </a:xfrm>
          <a:prstGeom prst="rect">
            <a:avLst/>
          </a:prstGeom>
          <a:noFill/>
          <a:ln/>
        </p:spPr>
        <p:txBody>
          <a:bodyPr wrap="square" lIns="0" tIns="0" rIns="0" bIns="0" rtlCol="0" anchor="t">
            <a:normAutofit/>
          </a:bodyPr>
          <a:lstStyle/>
          <a:p>
            <a:pPr marL="0" indent="0" algn="l">
              <a:lnSpc>
                <a:spcPct val="133000"/>
              </a:lnSpc>
              <a:buNone/>
            </a:pPr>
            <a:r>
              <a:rPr lang="en-US" sz="1400" dirty="0">
                <a:solidFill>
                  <a:srgbClr val="FF7B72"/>
                </a:solidFill>
                <a:latin typeface="Consolas" pitchFamily="34" charset="0"/>
                <a:ea typeface="Consolas" pitchFamily="34" charset="-122"/>
                <a:cs typeface="Consolas" pitchFamily="34" charset="-120"/>
              </a:rPr>
              <a:t>void checkBalance() {</a:t>
            </a:r>
            <a:endParaRPr lang="en-US" sz="1400" dirty="0"/>
          </a:p>
          <a:p>
            <a:pPr marL="0" indent="0" algn="l">
              <a:lnSpc>
                <a:spcPct val="133000"/>
              </a:lnSpc>
              <a:buNone/>
            </a:pPr>
            <a:r>
              <a:rPr lang="en-US" sz="1400" dirty="0">
                <a:solidFill>
                  <a:srgbClr val="FF7B72"/>
                </a:solidFill>
                <a:latin typeface="Consolas" pitchFamily="34" charset="0"/>
                <a:ea typeface="Consolas" pitchFamily="34" charset="-122"/>
                <a:cs typeface="Consolas" pitchFamily="34" charset="-120"/>
              </a:rPr>
              <a:t>    System.out.println("Balance: Rs. 5000");</a:t>
            </a:r>
            <a:endParaRPr lang="en-US" sz="1400" dirty="0"/>
          </a:p>
          <a:p>
            <a:pPr marL="0" indent="0" algn="l">
              <a:lnSpc>
                <a:spcPct val="133000"/>
              </a:lnSpc>
              <a:buNone/>
            </a:pPr>
            <a:r>
              <a:rPr lang="en-US" sz="1400" dirty="0">
                <a:solidFill>
                  <a:srgbClr val="FF7B72"/>
                </a:solidFill>
                <a:latin typeface="Consolas" pitchFamily="34" charset="0"/>
                <a:ea typeface="Consolas" pitchFamily="34" charset="-122"/>
                <a:cs typeface="Consolas" pitchFamily="34" charset="-120"/>
              </a:rPr>
              <a:t>}</a:t>
            </a:r>
            <a:endParaRPr lang="en-US" sz="1400" dirty="0"/>
          </a:p>
          <a:p>
            <a:pPr marL="0" indent="0" algn="l">
              <a:lnSpc>
                <a:spcPct val="133000"/>
              </a:lnSpc>
              <a:buNone/>
            </a:pPr>
            <a:r>
              <a:rPr lang="en-US" sz="1400" dirty="0">
                <a:solidFill>
                  <a:srgbClr val="FF7B72"/>
                </a:solidFill>
                <a:latin typeface="Consolas" pitchFamily="34" charset="0"/>
                <a:ea typeface="Consolas" pitchFamily="34" charset="-122"/>
                <a:cs typeface="Consolas" pitchFamily="34" charset="-120"/>
              </a:rPr>
              <a:t>void deposit(double amount) {</a:t>
            </a:r>
            <a:endParaRPr lang="en-US" sz="1400" dirty="0"/>
          </a:p>
          <a:p>
            <a:pPr marL="0" indent="0" algn="l">
              <a:lnSpc>
                <a:spcPct val="133000"/>
              </a:lnSpc>
              <a:buNone/>
            </a:pPr>
            <a:r>
              <a:rPr lang="en-US" sz="1400" dirty="0">
                <a:solidFill>
                  <a:srgbClr val="FF7B72"/>
                </a:solidFill>
                <a:latin typeface="Consolas" pitchFamily="34" charset="0"/>
                <a:ea typeface="Consolas" pitchFamily="34" charset="-122"/>
                <a:cs typeface="Consolas" pitchFamily="34" charset="-120"/>
              </a:rPr>
              <a:t>    if (amount &gt; 0) {</a:t>
            </a:r>
            <a:endParaRPr lang="en-US" sz="1400" dirty="0"/>
          </a:p>
          <a:p>
            <a:pPr marL="0" indent="0" algn="l">
              <a:lnSpc>
                <a:spcPct val="133000"/>
              </a:lnSpc>
              <a:buNone/>
            </a:pPr>
            <a:r>
              <a:rPr lang="en-US" sz="1400" dirty="0">
                <a:solidFill>
                  <a:srgbClr val="FF7B72"/>
                </a:solidFill>
                <a:latin typeface="Consolas" pitchFamily="34" charset="0"/>
                <a:ea typeface="Consolas" pitchFamily="34" charset="-122"/>
                <a:cs typeface="Consolas" pitchFamily="34" charset="-120"/>
              </a:rPr>
              <a:t>        balance += amount;</a:t>
            </a:r>
            <a:endParaRPr lang="en-US" sz="1400" dirty="0"/>
          </a:p>
          <a:p>
            <a:pPr marL="0" indent="0" algn="l">
              <a:lnSpc>
                <a:spcPct val="133000"/>
              </a:lnSpc>
              <a:buNone/>
            </a:pPr>
            <a:r>
              <a:rPr lang="en-US" sz="1400" dirty="0">
                <a:solidFill>
                  <a:srgbClr val="FF7B72"/>
                </a:solidFill>
                <a:latin typeface="Consolas" pitchFamily="34" charset="0"/>
                <a:ea typeface="Consolas" pitchFamily="34" charset="-122"/>
                <a:cs typeface="Consolas" pitchFamily="34" charset="-120"/>
              </a:rPr>
              <a:t>        System.out.println("Deposit successful");</a:t>
            </a:r>
            <a:endParaRPr lang="en-US" sz="1400" dirty="0"/>
          </a:p>
          <a:p>
            <a:pPr marL="0" indent="0" algn="l">
              <a:lnSpc>
                <a:spcPct val="133000"/>
              </a:lnSpc>
              <a:buNone/>
            </a:pPr>
            <a:r>
              <a:rPr lang="en-US" sz="1400" dirty="0">
                <a:solidFill>
                  <a:srgbClr val="FF7B72"/>
                </a:solidFill>
                <a:latin typeface="Consolas" pitchFamily="34" charset="0"/>
                <a:ea typeface="Consolas" pitchFamily="34" charset="-122"/>
                <a:cs typeface="Consolas" pitchFamily="34" charset="-120"/>
              </a:rPr>
              <a:t>    }</a:t>
            </a:r>
            <a:endParaRPr lang="en-US" sz="1400" dirty="0"/>
          </a:p>
          <a:p>
            <a:pPr marL="0" indent="0" algn="l">
              <a:lnSpc>
                <a:spcPct val="133000"/>
              </a:lnSpc>
              <a:buNone/>
            </a:pPr>
            <a:r>
              <a:rPr lang="en-US" sz="1400" dirty="0">
                <a:solidFill>
                  <a:srgbClr val="FF7B72"/>
                </a:solidFill>
                <a:latin typeface="Consolas" pitchFamily="34" charset="0"/>
                <a:ea typeface="Consolas" pitchFamily="34" charset="-122"/>
                <a:cs typeface="Consolas" pitchFamily="34" charset="-120"/>
              </a:rPr>
              <a:t>}</a:t>
            </a:r>
            <a:endParaRPr lang="en-US" sz="1400" dirty="0"/>
          </a:p>
        </p:txBody>
      </p:sp>
      <p:sp>
        <p:nvSpPr>
          <p:cNvPr id="6" name="Text 4"/>
          <p:cNvSpPr/>
          <p:nvPr/>
        </p:nvSpPr>
        <p:spPr>
          <a:xfrm>
            <a:off x="11946432" y="6466086"/>
            <a:ext cx="245263" cy="174129"/>
          </a:xfrm>
          <a:prstGeom prst="rect">
            <a:avLst/>
          </a:prstGeom>
          <a:noFill/>
          <a:ln/>
        </p:spPr>
        <p:txBody>
          <a:bodyPr wrap="none" lIns="0" tIns="0" rIns="0" bIns="0" rtlCol="0" anchor="ctr"/>
          <a:lstStyle/>
          <a:p>
            <a:pPr marL="0" indent="0" algn="l">
              <a:lnSpc>
                <a:spcPct val="117000"/>
              </a:lnSpc>
              <a:buNone/>
            </a:pPr>
            <a:r>
              <a:rPr lang="en-US" sz="1000" kern="100" spc="39" dirty="0">
                <a:solidFill>
                  <a:srgbClr val="C2C4B5"/>
                </a:solidFill>
                <a:latin typeface="Bitter" pitchFamily="34" charset="0"/>
                <a:ea typeface="Bitter" pitchFamily="34" charset="-122"/>
                <a:cs typeface="Bitter"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09585" y="609600"/>
            <a:ext cx="11582110"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9FA582"/>
                </a:solidFill>
                <a:latin typeface="Bitter" pitchFamily="34" charset="0"/>
                <a:ea typeface="Bitter" pitchFamily="34" charset="-122"/>
                <a:cs typeface="Bitter" pitchFamily="34" charset="-120"/>
              </a:rPr>
              <a:t>06 · OBJECT-ORIENTED FEATURES</a:t>
            </a:r>
            <a:endParaRPr lang="en-US" sz="1050" dirty="0"/>
          </a:p>
        </p:txBody>
      </p:sp>
      <p:sp>
        <p:nvSpPr>
          <p:cNvPr id="3" name="Text 1"/>
          <p:cNvSpPr/>
          <p:nvPr/>
        </p:nvSpPr>
        <p:spPr>
          <a:xfrm>
            <a:off x="609585" y="897478"/>
            <a:ext cx="10972526" cy="446980"/>
          </a:xfrm>
          <a:prstGeom prst="rect">
            <a:avLst/>
          </a:prstGeom>
          <a:noFill/>
          <a:ln/>
        </p:spPr>
        <p:txBody>
          <a:bodyPr wrap="none" lIns="0" tIns="0" rIns="0" bIns="0" rtlCol="0" anchor="t"/>
          <a:lstStyle/>
          <a:p>
            <a:pPr marL="0" indent="0" algn="l">
              <a:lnSpc>
                <a:spcPct val="92000"/>
              </a:lnSpc>
              <a:buNone/>
            </a:pPr>
            <a:r>
              <a:rPr lang="en-US" sz="3200" b="1" dirty="0">
                <a:solidFill>
                  <a:srgbClr val="E1E5CD"/>
                </a:solidFill>
                <a:latin typeface="Outfit Bold" pitchFamily="34" charset="0"/>
                <a:ea typeface="Outfit Bold" pitchFamily="34" charset="-122"/>
                <a:cs typeface="Outfit Bold" pitchFamily="34" charset="-120"/>
              </a:rPr>
              <a:t>Object-oriented features make the ATM easier to extend</a:t>
            </a:r>
            <a:endParaRPr lang="en-US" sz="3200" dirty="0"/>
          </a:p>
        </p:txBody>
      </p:sp>
      <p:sp>
        <p:nvSpPr>
          <p:cNvPr id="4" name="Shape 2"/>
          <p:cNvSpPr/>
          <p:nvPr/>
        </p:nvSpPr>
        <p:spPr>
          <a:xfrm>
            <a:off x="609585" y="1494036"/>
            <a:ext cx="5333867" cy="1568152"/>
          </a:xfrm>
          <a:prstGeom prst="roundRect">
            <a:avLst>
              <a:gd name="adj" fmla="val 1701"/>
            </a:avLst>
          </a:prstGeom>
          <a:solidFill>
            <a:srgbClr val="3B3C3E"/>
          </a:solidFill>
          <a:ln/>
        </p:spPr>
      </p:sp>
      <p:sp>
        <p:nvSpPr>
          <p:cNvPr id="5" name="Text 3"/>
          <p:cNvSpPr/>
          <p:nvPr/>
        </p:nvSpPr>
        <p:spPr>
          <a:xfrm>
            <a:off x="838179" y="1738456"/>
            <a:ext cx="4876678" cy="237430"/>
          </a:xfrm>
          <a:prstGeom prst="rect">
            <a:avLst/>
          </a:prstGeom>
          <a:noFill/>
          <a:ln/>
        </p:spPr>
        <p:txBody>
          <a:bodyPr wrap="none" lIns="0" tIns="0" rIns="0" bIns="0" rtlCol="0" anchor="t"/>
          <a:lstStyle/>
          <a:p>
            <a:pPr marL="0" indent="0" algn="l">
              <a:lnSpc>
                <a:spcPct val="92000"/>
              </a:lnSpc>
              <a:buNone/>
            </a:pPr>
            <a:r>
              <a:rPr lang="en-US" sz="1700" b="1" dirty="0">
                <a:solidFill>
                  <a:srgbClr val="E1E5CD"/>
                </a:solidFill>
                <a:latin typeface="Outfit Bold" pitchFamily="34" charset="0"/>
                <a:ea typeface="Outfit Bold" pitchFamily="34" charset="-122"/>
                <a:cs typeface="Outfit Bold" pitchFamily="34" charset="-120"/>
              </a:rPr>
              <a:t>Constructors, inheritance, and overriding</a:t>
            </a:r>
            <a:endParaRPr lang="en-US" sz="1700" dirty="0"/>
          </a:p>
        </p:txBody>
      </p:sp>
      <p:sp>
        <p:nvSpPr>
          <p:cNvPr id="6" name="Text 4"/>
          <p:cNvSpPr/>
          <p:nvPr/>
        </p:nvSpPr>
        <p:spPr>
          <a:xfrm>
            <a:off x="838179" y="2087066"/>
            <a:ext cx="4876678" cy="746522"/>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C2C4B5"/>
                </a:solidFill>
                <a:latin typeface="Bitter" pitchFamily="34" charset="0"/>
                <a:ea typeface="Bitter" pitchFamily="34" charset="-122"/>
                <a:cs typeface="Bitter" pitchFamily="34" charset="-120"/>
              </a:rPr>
              <a:t>Initialize BankAccount, SavingsAccount, and CurrentAccount. Account subclasses customize displayAccountType().</a:t>
            </a:r>
            <a:endParaRPr lang="en-US" sz="1400" dirty="0"/>
          </a:p>
        </p:txBody>
      </p:sp>
      <p:sp>
        <p:nvSpPr>
          <p:cNvPr id="7" name="Shape 5"/>
          <p:cNvSpPr/>
          <p:nvPr/>
        </p:nvSpPr>
        <p:spPr>
          <a:xfrm>
            <a:off x="6248244" y="1494036"/>
            <a:ext cx="5333867" cy="1568152"/>
          </a:xfrm>
          <a:prstGeom prst="roundRect">
            <a:avLst>
              <a:gd name="adj" fmla="val 1701"/>
            </a:avLst>
          </a:prstGeom>
          <a:solidFill>
            <a:srgbClr val="3B3C3E"/>
          </a:solidFill>
          <a:ln/>
        </p:spPr>
      </p:sp>
      <p:sp>
        <p:nvSpPr>
          <p:cNvPr id="8" name="Text 6"/>
          <p:cNvSpPr/>
          <p:nvPr/>
        </p:nvSpPr>
        <p:spPr>
          <a:xfrm>
            <a:off x="6476838" y="1738456"/>
            <a:ext cx="4876678" cy="237430"/>
          </a:xfrm>
          <a:prstGeom prst="rect">
            <a:avLst/>
          </a:prstGeom>
          <a:noFill/>
          <a:ln/>
        </p:spPr>
        <p:txBody>
          <a:bodyPr wrap="none" lIns="0" tIns="0" rIns="0" bIns="0" rtlCol="0" anchor="t"/>
          <a:lstStyle/>
          <a:p>
            <a:pPr marL="0" indent="0" algn="l">
              <a:lnSpc>
                <a:spcPct val="92000"/>
              </a:lnSpc>
              <a:buNone/>
            </a:pPr>
            <a:r>
              <a:rPr lang="en-US" sz="1700" b="1" dirty="0">
                <a:solidFill>
                  <a:srgbClr val="E1E5CD"/>
                </a:solidFill>
                <a:latin typeface="Outfit Bold" pitchFamily="34" charset="0"/>
                <a:ea typeface="Outfit Bold" pitchFamily="34" charset="-122"/>
                <a:cs typeface="Outfit Bold" pitchFamily="34" charset="-120"/>
              </a:rPr>
              <a:t>Overloading</a:t>
            </a:r>
            <a:endParaRPr lang="en-US" sz="1700" dirty="0"/>
          </a:p>
        </p:txBody>
      </p:sp>
      <p:sp>
        <p:nvSpPr>
          <p:cNvPr id="9" name="Text 7"/>
          <p:cNvSpPr/>
          <p:nvPr/>
        </p:nvSpPr>
        <p:spPr>
          <a:xfrm>
            <a:off x="6476838" y="2087066"/>
            <a:ext cx="4876678" cy="497681"/>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C2C4B5"/>
                </a:solidFill>
                <a:latin typeface="Bitter" pitchFamily="34" charset="0"/>
                <a:ea typeface="Bitter" pitchFamily="34" charset="-122"/>
                <a:cs typeface="Bitter" pitchFamily="34" charset="-120"/>
              </a:rPr>
              <a:t>deposit(double amount) and deposit(double amount, String description).</a:t>
            </a:r>
            <a:endParaRPr lang="en-US" sz="1400" dirty="0"/>
          </a:p>
        </p:txBody>
      </p:sp>
      <p:sp>
        <p:nvSpPr>
          <p:cNvPr id="10" name="Shape 8"/>
          <p:cNvSpPr/>
          <p:nvPr/>
        </p:nvSpPr>
        <p:spPr>
          <a:xfrm>
            <a:off x="609585" y="3366988"/>
            <a:ext cx="5333867" cy="1319312"/>
          </a:xfrm>
          <a:prstGeom prst="roundRect">
            <a:avLst>
              <a:gd name="adj" fmla="val 2021"/>
            </a:avLst>
          </a:prstGeom>
          <a:solidFill>
            <a:srgbClr val="3B3C3E"/>
          </a:solidFill>
          <a:ln/>
        </p:spPr>
      </p:sp>
      <p:sp>
        <p:nvSpPr>
          <p:cNvPr id="11" name="Text 9"/>
          <p:cNvSpPr/>
          <p:nvPr/>
        </p:nvSpPr>
        <p:spPr>
          <a:xfrm>
            <a:off x="838179" y="3611409"/>
            <a:ext cx="4876678" cy="237430"/>
          </a:xfrm>
          <a:prstGeom prst="rect">
            <a:avLst/>
          </a:prstGeom>
          <a:noFill/>
          <a:ln/>
        </p:spPr>
        <p:txBody>
          <a:bodyPr wrap="none" lIns="0" tIns="0" rIns="0" bIns="0" rtlCol="0" anchor="t"/>
          <a:lstStyle/>
          <a:p>
            <a:pPr marL="0" indent="0" algn="l">
              <a:lnSpc>
                <a:spcPct val="92000"/>
              </a:lnSpc>
              <a:buNone/>
            </a:pPr>
            <a:r>
              <a:rPr lang="en-US" sz="1700" b="1" dirty="0">
                <a:solidFill>
                  <a:srgbClr val="E1E5CD"/>
                </a:solidFill>
                <a:latin typeface="Outfit Bold" pitchFamily="34" charset="0"/>
                <a:ea typeface="Outfit Bold" pitchFamily="34" charset="-122"/>
                <a:cs typeface="Outfit Bold" pitchFamily="34" charset="-120"/>
              </a:rPr>
              <a:t>Exceptions</a:t>
            </a:r>
            <a:endParaRPr lang="en-US" sz="1700" dirty="0"/>
          </a:p>
        </p:txBody>
      </p:sp>
      <p:sp>
        <p:nvSpPr>
          <p:cNvPr id="12" name="Text 10"/>
          <p:cNvSpPr/>
          <p:nvPr/>
        </p:nvSpPr>
        <p:spPr>
          <a:xfrm>
            <a:off x="838179" y="3960019"/>
            <a:ext cx="4876678" cy="497681"/>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C2C4B5"/>
                </a:solidFill>
                <a:latin typeface="Bitter" pitchFamily="34" charset="0"/>
                <a:ea typeface="Bitter" pitchFamily="34" charset="-122"/>
                <a:cs typeface="Bitter" pitchFamily="34" charset="-120"/>
              </a:rPr>
              <a:t>Use try-catch for invalid input and transaction errors, including InputMismatchException.</a:t>
            </a:r>
            <a:endParaRPr lang="en-US" sz="1400" dirty="0"/>
          </a:p>
        </p:txBody>
      </p:sp>
      <p:sp>
        <p:nvSpPr>
          <p:cNvPr id="13" name="Shape 11"/>
          <p:cNvSpPr/>
          <p:nvPr/>
        </p:nvSpPr>
        <p:spPr>
          <a:xfrm>
            <a:off x="6248244" y="3366988"/>
            <a:ext cx="5333867" cy="1319312"/>
          </a:xfrm>
          <a:prstGeom prst="roundRect">
            <a:avLst>
              <a:gd name="adj" fmla="val 2021"/>
            </a:avLst>
          </a:prstGeom>
          <a:solidFill>
            <a:srgbClr val="3B3C3E"/>
          </a:solidFill>
          <a:ln/>
        </p:spPr>
      </p:sp>
      <p:sp>
        <p:nvSpPr>
          <p:cNvPr id="14" name="Text 12"/>
          <p:cNvSpPr/>
          <p:nvPr/>
        </p:nvSpPr>
        <p:spPr>
          <a:xfrm>
            <a:off x="6476838" y="3611409"/>
            <a:ext cx="4876678" cy="237430"/>
          </a:xfrm>
          <a:prstGeom prst="rect">
            <a:avLst/>
          </a:prstGeom>
          <a:noFill/>
          <a:ln/>
        </p:spPr>
        <p:txBody>
          <a:bodyPr wrap="none" lIns="0" tIns="0" rIns="0" bIns="0" rtlCol="0" anchor="t"/>
          <a:lstStyle/>
          <a:p>
            <a:pPr marL="0" indent="0" algn="l">
              <a:lnSpc>
                <a:spcPct val="92000"/>
              </a:lnSpc>
              <a:buNone/>
            </a:pPr>
            <a:r>
              <a:rPr lang="en-US" sz="1700" b="1" dirty="0">
                <a:solidFill>
                  <a:srgbClr val="E1E5CD"/>
                </a:solidFill>
                <a:latin typeface="Outfit Bold" pitchFamily="34" charset="0"/>
                <a:ea typeface="Outfit Bold" pitchFamily="34" charset="-122"/>
                <a:cs typeface="Outfit Bold" pitchFamily="34" charset="-120"/>
              </a:rPr>
              <a:t>Recursion</a:t>
            </a:r>
            <a:endParaRPr lang="en-US" sz="1700" dirty="0"/>
          </a:p>
        </p:txBody>
      </p:sp>
      <p:sp>
        <p:nvSpPr>
          <p:cNvPr id="15" name="Text 13"/>
          <p:cNvSpPr/>
          <p:nvPr/>
        </p:nvSpPr>
        <p:spPr>
          <a:xfrm>
            <a:off x="6476838" y="3960019"/>
            <a:ext cx="4876678" cy="497681"/>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C2C4B5"/>
                </a:solidFill>
                <a:latin typeface="Bitter" pitchFamily="34" charset="0"/>
                <a:ea typeface="Bitter" pitchFamily="34" charset="-122"/>
                <a:cs typeface="Bitter" pitchFamily="34" charset="-120"/>
              </a:rPr>
              <a:t>Demonstrate a limited retry example; loops are better for the ATM menu.</a:t>
            </a:r>
            <a:endParaRPr lang="en-US" sz="1400" dirty="0"/>
          </a:p>
        </p:txBody>
      </p:sp>
      <p:sp>
        <p:nvSpPr>
          <p:cNvPr id="16" name="Text 14"/>
          <p:cNvSpPr/>
          <p:nvPr/>
        </p:nvSpPr>
        <p:spPr>
          <a:xfrm>
            <a:off x="11934130" y="6466086"/>
            <a:ext cx="257565" cy="174129"/>
          </a:xfrm>
          <a:prstGeom prst="rect">
            <a:avLst/>
          </a:prstGeom>
          <a:noFill/>
          <a:ln/>
        </p:spPr>
        <p:txBody>
          <a:bodyPr wrap="none" lIns="0" tIns="0" rIns="0" bIns="0" rtlCol="0" anchor="ctr"/>
          <a:lstStyle/>
          <a:p>
            <a:pPr marL="0" indent="0" algn="l">
              <a:lnSpc>
                <a:spcPct val="117000"/>
              </a:lnSpc>
              <a:buNone/>
            </a:pPr>
            <a:r>
              <a:rPr lang="en-US" sz="1000" kern="100" spc="39" dirty="0">
                <a:solidFill>
                  <a:srgbClr val="C2C4B5"/>
                </a:solidFill>
                <a:latin typeface="Bitter" pitchFamily="34" charset="0"/>
                <a:ea typeface="Bitter" pitchFamily="34" charset="-122"/>
                <a:cs typeface="Bitter"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09585" y="637822"/>
            <a:ext cx="4876678" cy="1340941"/>
          </a:xfrm>
          <a:prstGeom prst="rect">
            <a:avLst/>
          </a:prstGeom>
          <a:noFill/>
          <a:ln/>
        </p:spPr>
        <p:txBody>
          <a:bodyPr wrap="square" lIns="0" tIns="0" rIns="0" bIns="0" rtlCol="0" anchor="t">
            <a:normAutofit lnSpcReduction="10000"/>
          </a:bodyPr>
          <a:lstStyle/>
          <a:p>
            <a:pPr marL="0" indent="0" algn="l">
              <a:lnSpc>
                <a:spcPct val="92000"/>
              </a:lnSpc>
              <a:buNone/>
            </a:pPr>
            <a:r>
              <a:rPr lang="en-US" sz="3200" b="1" dirty="0">
                <a:solidFill>
                  <a:srgbClr val="E1E5CD"/>
                </a:solidFill>
                <a:latin typeface="Outfit Bold" pitchFamily="34" charset="0"/>
                <a:ea typeface="Outfit Bold" pitchFamily="34" charset="-122"/>
                <a:cs typeface="Outfit Bold" pitchFamily="34" charset="-120"/>
              </a:rPr>
              <a:t>How Object-Oriented Programming Powers the ATM</a:t>
            </a:r>
            <a:endParaRPr lang="en-US" sz="3200" dirty="0"/>
          </a:p>
        </p:txBody>
      </p:sp>
      <p:sp>
        <p:nvSpPr>
          <p:cNvPr id="3" name="Text 1"/>
          <p:cNvSpPr/>
          <p:nvPr/>
        </p:nvSpPr>
        <p:spPr>
          <a:xfrm>
            <a:off x="609585" y="2128341"/>
            <a:ext cx="4876678" cy="497681"/>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C2C4B5"/>
                </a:solidFill>
                <a:latin typeface="Bitter" pitchFamily="34" charset="0"/>
                <a:ea typeface="Bitter" pitchFamily="34" charset="-122"/>
                <a:cs typeface="Bitter" pitchFamily="34" charset="-120"/>
              </a:rPr>
              <a:t>Object-oriented programming (OOP) models each part of the ATM as an object that holds its own data and actions.</a:t>
            </a:r>
            <a:endParaRPr lang="en-US" sz="1400" dirty="0"/>
          </a:p>
        </p:txBody>
      </p:sp>
      <p:sp>
        <p:nvSpPr>
          <p:cNvPr id="4" name="Text 2"/>
          <p:cNvSpPr/>
          <p:nvPr/>
        </p:nvSpPr>
        <p:spPr>
          <a:xfrm>
            <a:off x="609585" y="2784773"/>
            <a:ext cx="4876678" cy="2124075"/>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b="1" dirty="0">
                <a:solidFill>
                  <a:srgbClr val="C2C4B5"/>
                </a:solidFill>
                <a:latin typeface="Bitter Bold" pitchFamily="34" charset="0"/>
                <a:ea typeface="Bitter Bold" pitchFamily="34" charset="-122"/>
                <a:cs typeface="Bitter Bold" pitchFamily="34" charset="-120"/>
              </a:rPr>
              <a:t>Encapsulation:</a:t>
            </a:r>
            <a:r>
              <a:rPr lang="en-US" sz="1400" dirty="0">
                <a:solidFill>
                  <a:srgbClr val="C2C4B5"/>
                </a:solidFill>
                <a:latin typeface="Bitter" pitchFamily="34" charset="0"/>
                <a:ea typeface="Bitter" pitchFamily="34" charset="-122"/>
                <a:cs typeface="Bitter" pitchFamily="34" charset="-120"/>
              </a:rPr>
              <a:t> the balance and PIN are private; only deposit() and withdraw() change them.</a:t>
            </a:r>
            <a:endParaRPr lang="en-US" sz="1400" dirty="0"/>
          </a:p>
          <a:p>
            <a:pPr marL="284480" indent="-284480" algn="l">
              <a:lnSpc>
                <a:spcPct val="117000"/>
              </a:lnSpc>
              <a:buSzPct val="100000"/>
              <a:buChar char="•"/>
            </a:pPr>
            <a:r>
              <a:rPr lang="en-US" sz="1400" b="1" dirty="0">
                <a:solidFill>
                  <a:srgbClr val="C2C4B5"/>
                </a:solidFill>
                <a:latin typeface="Bitter Bold" pitchFamily="34" charset="0"/>
                <a:ea typeface="Bitter Bold" pitchFamily="34" charset="-122"/>
                <a:cs typeface="Bitter Bold" pitchFamily="34" charset="-120"/>
              </a:rPr>
              <a:t>Inheritance:</a:t>
            </a:r>
            <a:r>
              <a:rPr lang="en-US" sz="1400" dirty="0">
                <a:solidFill>
                  <a:srgbClr val="C2C4B5"/>
                </a:solidFill>
                <a:latin typeface="Bitter" pitchFamily="34" charset="0"/>
                <a:ea typeface="Bitter" pitchFamily="34" charset="-122"/>
                <a:cs typeface="Bitter" pitchFamily="34" charset="-120"/>
              </a:rPr>
              <a:t> Savings Account and CurrentAccount reuse the code in BankAccount.</a:t>
            </a:r>
            <a:endParaRPr lang="en-US" sz="1400" dirty="0"/>
          </a:p>
          <a:p>
            <a:pPr marL="284480" indent="-284480" algn="l">
              <a:lnSpc>
                <a:spcPct val="117000"/>
              </a:lnSpc>
              <a:buSzPct val="100000"/>
              <a:buChar char="•"/>
            </a:pPr>
            <a:r>
              <a:rPr lang="en-US" sz="1400" b="1" dirty="0">
                <a:solidFill>
                  <a:srgbClr val="C2C4B5"/>
                </a:solidFill>
                <a:latin typeface="Bitter Bold" pitchFamily="34" charset="0"/>
                <a:ea typeface="Bitter Bold" pitchFamily="34" charset="-122"/>
                <a:cs typeface="Bitter Bold" pitchFamily="34" charset="-120"/>
              </a:rPr>
              <a:t>Polymorphism:</a:t>
            </a:r>
            <a:r>
              <a:rPr lang="en-US" sz="1400" dirty="0">
                <a:solidFill>
                  <a:srgbClr val="C2C4B5"/>
                </a:solidFill>
                <a:latin typeface="Bitter" pitchFamily="34" charset="0"/>
                <a:ea typeface="Bitter" pitchFamily="34" charset="-122"/>
                <a:cs typeface="Bitter" pitchFamily="34" charset="-120"/>
              </a:rPr>
              <a:t> each account type gives its own monthly fee rule.</a:t>
            </a:r>
            <a:endParaRPr lang="en-US" sz="1400" dirty="0"/>
          </a:p>
          <a:p>
            <a:pPr marL="284480" indent="-284480" algn="l">
              <a:lnSpc>
                <a:spcPct val="117000"/>
              </a:lnSpc>
              <a:buSzPct val="100000"/>
              <a:buChar char="•"/>
            </a:pPr>
            <a:r>
              <a:rPr lang="en-US" sz="1400" b="1" dirty="0">
                <a:solidFill>
                  <a:srgbClr val="C2C4B5"/>
                </a:solidFill>
                <a:latin typeface="Bitter Bold" pitchFamily="34" charset="0"/>
                <a:ea typeface="Bitter Bold" pitchFamily="34" charset="-122"/>
                <a:cs typeface="Bitter Bold" pitchFamily="34" charset="-120"/>
              </a:rPr>
              <a:t>Abstraction:</a:t>
            </a:r>
            <a:r>
              <a:rPr lang="en-US" sz="1400" dirty="0">
                <a:solidFill>
                  <a:srgbClr val="C2C4B5"/>
                </a:solidFill>
                <a:latin typeface="Bitter" pitchFamily="34" charset="0"/>
                <a:ea typeface="Bitter" pitchFamily="34" charset="-122"/>
                <a:cs typeface="Bitter" pitchFamily="34" charset="-120"/>
              </a:rPr>
              <a:t> the ATM calls simple actions without knowing the internal details.</a:t>
            </a:r>
            <a:endParaRPr lang="en-US" sz="1400" dirty="0"/>
          </a:p>
        </p:txBody>
      </p:sp>
      <p:sp>
        <p:nvSpPr>
          <p:cNvPr id="5" name="Shape 3"/>
          <p:cNvSpPr/>
          <p:nvPr/>
        </p:nvSpPr>
        <p:spPr>
          <a:xfrm>
            <a:off x="6705432" y="809625"/>
            <a:ext cx="4876678" cy="1208980"/>
          </a:xfrm>
          <a:prstGeom prst="roundRect">
            <a:avLst>
              <a:gd name="adj" fmla="val 2206"/>
            </a:avLst>
          </a:prstGeom>
          <a:solidFill>
            <a:srgbClr val="292A2C"/>
          </a:solidFill>
          <a:ln/>
        </p:spPr>
      </p:sp>
      <p:sp>
        <p:nvSpPr>
          <p:cNvPr id="6" name="Text 4"/>
          <p:cNvSpPr/>
          <p:nvPr/>
        </p:nvSpPr>
        <p:spPr>
          <a:xfrm>
            <a:off x="6918747" y="987742"/>
            <a:ext cx="4450048" cy="853380"/>
          </a:xfrm>
          <a:prstGeom prst="rect">
            <a:avLst/>
          </a:prstGeom>
          <a:noFill/>
          <a:ln/>
        </p:spPr>
        <p:txBody>
          <a:bodyPr wrap="square" lIns="0" tIns="0" rIns="0" bIns="0" rtlCol="0" anchor="t">
            <a:normAutofit/>
          </a:bodyPr>
          <a:lstStyle/>
          <a:p>
            <a:pPr marL="0" indent="0" algn="l">
              <a:lnSpc>
                <a:spcPct val="133000"/>
              </a:lnSpc>
              <a:buNone/>
            </a:pPr>
            <a:r>
              <a:rPr lang="en-US" sz="1400" dirty="0">
                <a:solidFill>
                  <a:srgbClr val="FF7B72"/>
                </a:solidFill>
                <a:latin typeface="Consolas" pitchFamily="34" charset="0"/>
                <a:ea typeface="Consolas" pitchFamily="34" charset="-122"/>
                <a:cs typeface="Consolas" pitchFamily="34" charset="-120"/>
              </a:rPr>
              <a:t>BankAccount account = new BankAccount();</a:t>
            </a:r>
            <a:endParaRPr lang="en-US" sz="1400" dirty="0"/>
          </a:p>
          <a:p>
            <a:pPr marL="0" indent="0" algn="l">
              <a:lnSpc>
                <a:spcPct val="133000"/>
              </a:lnSpc>
              <a:buNone/>
            </a:pPr>
            <a:r>
              <a:rPr lang="en-US" sz="1400" dirty="0">
                <a:solidFill>
                  <a:srgbClr val="FF7B72"/>
                </a:solidFill>
                <a:latin typeface="Consolas" pitchFamily="34" charset="0"/>
                <a:ea typeface="Consolas" pitchFamily="34" charset="-122"/>
                <a:cs typeface="Consolas" pitchFamily="34" charset="-120"/>
              </a:rPr>
              <a:t>account.balance = 5000;</a:t>
            </a:r>
            <a:endParaRPr lang="en-US" sz="1400" dirty="0"/>
          </a:p>
          <a:p>
            <a:pPr marL="0" indent="0" algn="l">
              <a:lnSpc>
                <a:spcPct val="133000"/>
              </a:lnSpc>
              <a:buNone/>
            </a:pPr>
            <a:r>
              <a:rPr lang="en-US" sz="1400" dirty="0">
                <a:solidFill>
                  <a:srgbClr val="FF7B72"/>
                </a:solidFill>
                <a:latin typeface="Consolas" pitchFamily="34" charset="0"/>
                <a:ea typeface="Consolas" pitchFamily="34" charset="-122"/>
                <a:cs typeface="Consolas" pitchFamily="34" charset="-120"/>
              </a:rPr>
              <a:t>System.out.println(account.balance);</a:t>
            </a:r>
            <a:endParaRPr lang="en-US" sz="1400" dirty="0"/>
          </a:p>
        </p:txBody>
      </p:sp>
      <p:sp>
        <p:nvSpPr>
          <p:cNvPr id="7" name="Shape 5"/>
          <p:cNvSpPr/>
          <p:nvPr/>
        </p:nvSpPr>
        <p:spPr>
          <a:xfrm>
            <a:off x="6705432" y="2218630"/>
            <a:ext cx="1313623" cy="270173"/>
          </a:xfrm>
          <a:prstGeom prst="roundRect">
            <a:avLst>
              <a:gd name="adj" fmla="val 7897"/>
            </a:avLst>
          </a:prstGeom>
          <a:solidFill>
            <a:srgbClr val="2A2C20"/>
          </a:solidFill>
          <a:ln/>
        </p:spPr>
      </p:sp>
      <p:sp>
        <p:nvSpPr>
          <p:cNvPr id="8" name="Text 6"/>
          <p:cNvSpPr/>
          <p:nvPr/>
        </p:nvSpPr>
        <p:spPr>
          <a:xfrm>
            <a:off x="6812090" y="2275679"/>
            <a:ext cx="1709893" cy="163612"/>
          </a:xfrm>
          <a:prstGeom prst="rect">
            <a:avLst/>
          </a:prstGeom>
          <a:noFill/>
          <a:ln/>
        </p:spPr>
        <p:txBody>
          <a:bodyPr wrap="none" lIns="0" tIns="0" rIns="0" bIns="0" rtlCol="0" anchor="t"/>
          <a:lstStyle/>
          <a:p>
            <a:pPr marL="0" indent="0" algn="l">
              <a:lnSpc>
                <a:spcPct val="96000"/>
              </a:lnSpc>
              <a:buNone/>
            </a:pPr>
            <a:r>
              <a:rPr lang="en-US" sz="1100" dirty="0">
                <a:solidFill>
                  <a:srgbClr val="C2C4B5"/>
                </a:solidFill>
                <a:latin typeface="Bitter" pitchFamily="34" charset="0"/>
                <a:ea typeface="Bitter" pitchFamily="34" charset="-122"/>
                <a:cs typeface="Bitter" pitchFamily="34" charset="-120"/>
              </a:rPr>
              <a:t>BANK ACCOUNT</a:t>
            </a:r>
            <a:endParaRPr lang="en-US" sz="1100" dirty="0"/>
          </a:p>
        </p:txBody>
      </p:sp>
      <p:sp>
        <p:nvSpPr>
          <p:cNvPr id="9" name="Text 7"/>
          <p:cNvSpPr/>
          <p:nvPr/>
        </p:nvSpPr>
        <p:spPr>
          <a:xfrm>
            <a:off x="6705432" y="2647553"/>
            <a:ext cx="5486263" cy="186630"/>
          </a:xfrm>
          <a:prstGeom prst="rect">
            <a:avLst/>
          </a:prstGeom>
          <a:noFill/>
          <a:ln/>
        </p:spPr>
        <p:txBody>
          <a:bodyPr wrap="none" lIns="0" tIns="0" rIns="0" bIns="0" rtlCol="0" anchor="t"/>
          <a:lstStyle/>
          <a:p>
            <a:pPr marL="0" indent="0" algn="l">
              <a:lnSpc>
                <a:spcPct val="117000"/>
              </a:lnSpc>
              <a:buNone/>
            </a:pPr>
            <a:r>
              <a:rPr lang="en-US" sz="1050" dirty="0">
                <a:solidFill>
                  <a:srgbClr val="C2C4B5"/>
                </a:solidFill>
                <a:latin typeface="Bitter" pitchFamily="34" charset="0"/>
                <a:ea typeface="Bitter" pitchFamily="34" charset="-122"/>
                <a:cs typeface="Bitter" pitchFamily="34" charset="-120"/>
              </a:rPr>
              <a:t>▼ extended by</a:t>
            </a:r>
            <a:endParaRPr lang="en-US" sz="1050" dirty="0"/>
          </a:p>
        </p:txBody>
      </p:sp>
      <p:sp>
        <p:nvSpPr>
          <p:cNvPr id="10" name="Shape 8"/>
          <p:cNvSpPr/>
          <p:nvPr/>
        </p:nvSpPr>
        <p:spPr>
          <a:xfrm>
            <a:off x="6705432" y="2992934"/>
            <a:ext cx="1533685" cy="270173"/>
          </a:xfrm>
          <a:prstGeom prst="roundRect">
            <a:avLst>
              <a:gd name="adj" fmla="val 7897"/>
            </a:avLst>
          </a:prstGeom>
          <a:noFill/>
          <a:ln w="6350">
            <a:solidFill>
              <a:srgbClr val="9FA582"/>
            </a:solidFill>
            <a:prstDash val="solid"/>
          </a:ln>
        </p:spPr>
      </p:sp>
      <p:sp>
        <p:nvSpPr>
          <p:cNvPr id="11" name="Text 9"/>
          <p:cNvSpPr/>
          <p:nvPr/>
        </p:nvSpPr>
        <p:spPr>
          <a:xfrm>
            <a:off x="6812090" y="3049982"/>
            <a:ext cx="1929955" cy="163612"/>
          </a:xfrm>
          <a:prstGeom prst="rect">
            <a:avLst/>
          </a:prstGeom>
          <a:noFill/>
          <a:ln/>
        </p:spPr>
        <p:txBody>
          <a:bodyPr wrap="none" lIns="0" tIns="0" rIns="0" bIns="0" rtlCol="0" anchor="t"/>
          <a:lstStyle/>
          <a:p>
            <a:pPr marL="0" indent="0" algn="l">
              <a:lnSpc>
                <a:spcPct val="96000"/>
              </a:lnSpc>
              <a:buNone/>
            </a:pPr>
            <a:r>
              <a:rPr lang="en-US" sz="1100" dirty="0">
                <a:solidFill>
                  <a:srgbClr val="9FA582"/>
                </a:solidFill>
                <a:latin typeface="Bitter" pitchFamily="34" charset="0"/>
                <a:ea typeface="Bitter" pitchFamily="34" charset="-122"/>
                <a:cs typeface="Bitter" pitchFamily="34" charset="-120"/>
              </a:rPr>
              <a:t>SAVINGS ACCOUNT</a:t>
            </a:r>
            <a:endParaRPr lang="en-US" sz="1100" dirty="0"/>
          </a:p>
        </p:txBody>
      </p:sp>
      <p:sp>
        <p:nvSpPr>
          <p:cNvPr id="12" name="Shape 10"/>
          <p:cNvSpPr/>
          <p:nvPr/>
        </p:nvSpPr>
        <p:spPr>
          <a:xfrm>
            <a:off x="6086323" y="0"/>
            <a:ext cx="19050" cy="6858000"/>
          </a:xfrm>
          <a:prstGeom prst="rect">
            <a:avLst/>
          </a:prstGeom>
          <a:solidFill>
            <a:srgbClr val="808080">
              <a:alpha val="35000"/>
            </a:srgbClr>
          </a:solidFill>
          <a:ln/>
        </p:spPr>
      </p:sp>
      <p:sp>
        <p:nvSpPr>
          <p:cNvPr id="13" name="Text 11"/>
          <p:cNvSpPr/>
          <p:nvPr/>
        </p:nvSpPr>
        <p:spPr>
          <a:xfrm>
            <a:off x="11935915" y="6466086"/>
            <a:ext cx="255780" cy="174129"/>
          </a:xfrm>
          <a:prstGeom prst="rect">
            <a:avLst/>
          </a:prstGeom>
          <a:noFill/>
          <a:ln/>
        </p:spPr>
        <p:txBody>
          <a:bodyPr wrap="none" lIns="0" tIns="0" rIns="0" bIns="0" rtlCol="0" anchor="ctr"/>
          <a:lstStyle/>
          <a:p>
            <a:pPr marL="0" indent="0" algn="l">
              <a:lnSpc>
                <a:spcPct val="117000"/>
              </a:lnSpc>
              <a:buNone/>
            </a:pPr>
            <a:r>
              <a:rPr lang="en-US" sz="1000" kern="100" spc="39" dirty="0">
                <a:solidFill>
                  <a:srgbClr val="C2C4B5"/>
                </a:solidFill>
                <a:latin typeface="Bitter" pitchFamily="34" charset="0"/>
                <a:ea typeface="Bitter" pitchFamily="34" charset="-122"/>
                <a:cs typeface="Bitter"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09585" y="1352072"/>
            <a:ext cx="10972526" cy="670520"/>
          </a:xfrm>
          <a:prstGeom prst="rect">
            <a:avLst/>
          </a:prstGeom>
          <a:noFill/>
          <a:ln/>
        </p:spPr>
        <p:txBody>
          <a:bodyPr wrap="none" lIns="0" tIns="0" rIns="0" bIns="0" rtlCol="0" anchor="t"/>
          <a:lstStyle/>
          <a:p>
            <a:pPr marL="0" indent="0" algn="l">
              <a:lnSpc>
                <a:spcPct val="92000"/>
              </a:lnSpc>
              <a:buNone/>
            </a:pPr>
            <a:r>
              <a:rPr lang="en-US" sz="4800" b="1" dirty="0">
                <a:solidFill>
                  <a:srgbClr val="E1E5CD"/>
                </a:solidFill>
                <a:latin typeface="Outfit Bold" pitchFamily="34" charset="0"/>
                <a:ea typeface="Outfit Bold" pitchFamily="34" charset="-122"/>
                <a:cs typeface="Outfit Bold" pitchFamily="34" charset="-120"/>
              </a:rPr>
              <a:t>Strings</a:t>
            </a:r>
            <a:endParaRPr lang="en-US" sz="4800" dirty="0"/>
          </a:p>
        </p:txBody>
      </p:sp>
      <p:sp>
        <p:nvSpPr>
          <p:cNvPr id="3" name="Text 1"/>
          <p:cNvSpPr/>
          <p:nvPr/>
        </p:nvSpPr>
        <p:spPr>
          <a:xfrm>
            <a:off x="609585" y="2212082"/>
            <a:ext cx="10972526" cy="504031"/>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C2C4B5"/>
                </a:solidFill>
                <a:latin typeface="Bitter" pitchFamily="34" charset="0"/>
                <a:ea typeface="Bitter" pitchFamily="34" charset="-122"/>
                <a:cs typeface="Bitter" pitchFamily="34" charset="-120"/>
              </a:rPr>
              <a:t>A </a:t>
            </a:r>
            <a:r>
              <a:rPr lang="en-US" sz="1400" dirty="0">
                <a:solidFill>
                  <a:srgbClr val="C2C4B5"/>
                </a:solidFill>
                <a:highlight>
                  <a:srgbClr val="292A2C"/>
                </a:highlight>
                <a:latin typeface="Consolas" pitchFamily="34" charset="0"/>
                <a:ea typeface="Consolas" pitchFamily="34" charset="-122"/>
                <a:cs typeface="Consolas" pitchFamily="34" charset="-120"/>
              </a:rPr>
              <a:t>String</a:t>
            </a:r>
            <a:r>
              <a:rPr lang="en-US" sz="1400" dirty="0">
                <a:solidFill>
                  <a:srgbClr val="C2C4B5"/>
                </a:solidFill>
                <a:latin typeface="Bitter" pitchFamily="34" charset="0"/>
                <a:ea typeface="Bitter" pitchFamily="34" charset="-122"/>
                <a:cs typeface="Bitter" pitchFamily="34" charset="-120"/>
              </a:rPr>
              <a:t> stores text such as the account holder's name, account number stored as text, or a transaction message. A String is immutable, meaning its content cannot be changed after creation.</a:t>
            </a:r>
            <a:endParaRPr lang="en-US" sz="1400" dirty="0"/>
          </a:p>
        </p:txBody>
      </p:sp>
      <p:sp>
        <p:nvSpPr>
          <p:cNvPr id="4" name="Shape 2"/>
          <p:cNvSpPr/>
          <p:nvPr/>
        </p:nvSpPr>
        <p:spPr>
          <a:xfrm>
            <a:off x="609585" y="2916138"/>
            <a:ext cx="10972526" cy="1208980"/>
          </a:xfrm>
          <a:prstGeom prst="roundRect">
            <a:avLst>
              <a:gd name="adj" fmla="val 2206"/>
            </a:avLst>
          </a:prstGeom>
          <a:solidFill>
            <a:srgbClr val="292A2C"/>
          </a:solidFill>
          <a:ln/>
        </p:spPr>
      </p:sp>
      <p:sp>
        <p:nvSpPr>
          <p:cNvPr id="5" name="Text 3"/>
          <p:cNvSpPr/>
          <p:nvPr/>
        </p:nvSpPr>
        <p:spPr>
          <a:xfrm>
            <a:off x="822900" y="3094256"/>
            <a:ext cx="10545896" cy="853380"/>
          </a:xfrm>
          <a:prstGeom prst="rect">
            <a:avLst/>
          </a:prstGeom>
          <a:noFill/>
          <a:ln/>
        </p:spPr>
        <p:txBody>
          <a:bodyPr wrap="square" lIns="0" tIns="0" rIns="0" bIns="0" rtlCol="0" anchor="t">
            <a:normAutofit/>
          </a:bodyPr>
          <a:lstStyle/>
          <a:p>
            <a:pPr marL="0" indent="0" algn="l">
              <a:lnSpc>
                <a:spcPct val="133000"/>
              </a:lnSpc>
              <a:buNone/>
            </a:pPr>
            <a:r>
              <a:rPr lang="en-US" sz="1400" dirty="0">
                <a:solidFill>
                  <a:srgbClr val="FF7B72"/>
                </a:solidFill>
                <a:latin typeface="Consolas" pitchFamily="34" charset="0"/>
                <a:ea typeface="Consolas" pitchFamily="34" charset="-122"/>
                <a:cs typeface="Consolas" pitchFamily="34" charset="-120"/>
              </a:rPr>
              <a:t>String name = "Mythri";</a:t>
            </a:r>
            <a:endParaRPr lang="en-US" sz="1400" dirty="0"/>
          </a:p>
          <a:p>
            <a:pPr marL="0" indent="0" algn="l">
              <a:lnSpc>
                <a:spcPct val="133000"/>
              </a:lnSpc>
              <a:buNone/>
            </a:pPr>
            <a:r>
              <a:rPr lang="en-US" sz="1400" dirty="0">
                <a:solidFill>
                  <a:srgbClr val="FF7B72"/>
                </a:solidFill>
                <a:latin typeface="Consolas" pitchFamily="34" charset="0"/>
                <a:ea typeface="Consolas" pitchFamily="34" charset="-122"/>
                <a:cs typeface="Consolas" pitchFamily="34" charset="-120"/>
              </a:rPr>
              <a:t>String message = "Welcome to ATM";</a:t>
            </a:r>
            <a:endParaRPr lang="en-US" sz="1400" dirty="0"/>
          </a:p>
          <a:p>
            <a:pPr marL="0" indent="0" algn="l">
              <a:lnSpc>
                <a:spcPct val="133000"/>
              </a:lnSpc>
              <a:buNone/>
            </a:pPr>
            <a:r>
              <a:rPr lang="en-US" sz="1400" dirty="0">
                <a:solidFill>
                  <a:srgbClr val="FF7B72"/>
                </a:solidFill>
                <a:latin typeface="Consolas" pitchFamily="34" charset="0"/>
                <a:ea typeface="Consolas" pitchFamily="34" charset="-122"/>
                <a:cs typeface="Consolas" pitchFamily="34" charset="-120"/>
              </a:rPr>
              <a:t>System.out.println(message);</a:t>
            </a:r>
            <a:endParaRPr lang="en-US" sz="1400" dirty="0"/>
          </a:p>
        </p:txBody>
      </p:sp>
      <p:sp>
        <p:nvSpPr>
          <p:cNvPr id="6" name="Text 4"/>
          <p:cNvSpPr/>
          <p:nvPr/>
        </p:nvSpPr>
        <p:spPr>
          <a:xfrm>
            <a:off x="609585" y="4483894"/>
            <a:ext cx="10972526" cy="1064022"/>
          </a:xfrm>
          <a:prstGeom prst="rect">
            <a:avLst/>
          </a:prstGeom>
          <a:noFill/>
          <a:ln/>
        </p:spPr>
        <p:txBody>
          <a:bodyPr wrap="square" lIns="0" tIns="0" rIns="0" bIns="0" rtlCol="0" anchor="t"/>
          <a:lstStyle/>
          <a:p>
            <a:pPr marL="0" indent="0" algn="l">
              <a:lnSpc>
                <a:spcPct val="117000"/>
              </a:lnSpc>
              <a:spcAft>
                <a:spcPts val="1200"/>
              </a:spcAft>
              <a:buNone/>
            </a:pPr>
            <a:r>
              <a:rPr lang="en-US" sz="1400" dirty="0">
                <a:solidFill>
                  <a:srgbClr val="C2C4B5"/>
                </a:solidFill>
                <a:latin typeface="Bitter" pitchFamily="34" charset="0"/>
                <a:ea typeface="Bitter" pitchFamily="34" charset="-122"/>
                <a:cs typeface="Bitter" pitchFamily="34" charset="-120"/>
              </a:rPr>
              <a:t>Types are</a:t>
            </a:r>
            <a:endParaRPr lang="en-US" sz="1400" dirty="0"/>
          </a:p>
          <a:p>
            <a:pPr marL="0" indent="0" algn="l">
              <a:lnSpc>
                <a:spcPct val="117000"/>
              </a:lnSpc>
              <a:spcAft>
                <a:spcPts val="1200"/>
              </a:spcAft>
              <a:buNone/>
            </a:pPr>
            <a:r>
              <a:rPr lang="en-US" sz="1400" dirty="0">
                <a:solidFill>
                  <a:srgbClr val="C2C4B5"/>
                </a:solidFill>
                <a:latin typeface="Bitter" pitchFamily="34" charset="0"/>
                <a:ea typeface="Bitter" pitchFamily="34" charset="-122"/>
                <a:cs typeface="Bitter" pitchFamily="34" charset="-120"/>
              </a:rPr>
              <a:t>String Builder</a:t>
            </a:r>
            <a:endParaRPr lang="en-US" sz="1400" dirty="0"/>
          </a:p>
          <a:p>
            <a:pPr marL="0" indent="0" algn="l">
              <a:lnSpc>
                <a:spcPct val="117000"/>
              </a:lnSpc>
              <a:buNone/>
            </a:pPr>
            <a:r>
              <a:rPr lang="en-US" sz="1400" dirty="0">
                <a:solidFill>
                  <a:srgbClr val="C2C4B5"/>
                </a:solidFill>
                <a:latin typeface="Bitter" pitchFamily="34" charset="0"/>
                <a:ea typeface="Bitter" pitchFamily="34" charset="-122"/>
                <a:cs typeface="Bitter" pitchFamily="34" charset="-120"/>
              </a:rPr>
              <a:t>String Buffer</a:t>
            </a:r>
            <a:endParaRPr lang="en-US" sz="1400" dirty="0"/>
          </a:p>
        </p:txBody>
      </p:sp>
      <p:sp>
        <p:nvSpPr>
          <p:cNvPr id="7" name="Text 5"/>
          <p:cNvSpPr/>
          <p:nvPr/>
        </p:nvSpPr>
        <p:spPr>
          <a:xfrm>
            <a:off x="11873608" y="6466086"/>
            <a:ext cx="318087" cy="174129"/>
          </a:xfrm>
          <a:prstGeom prst="rect">
            <a:avLst/>
          </a:prstGeom>
          <a:noFill/>
          <a:ln/>
        </p:spPr>
        <p:txBody>
          <a:bodyPr wrap="none" lIns="0" tIns="0" rIns="0" bIns="0" rtlCol="0" anchor="ctr"/>
          <a:lstStyle/>
          <a:p>
            <a:pPr marL="0" indent="0" algn="l">
              <a:lnSpc>
                <a:spcPct val="117000"/>
              </a:lnSpc>
              <a:buNone/>
            </a:pPr>
            <a:r>
              <a:rPr lang="en-US" sz="1000" kern="100" spc="39" dirty="0">
                <a:solidFill>
                  <a:srgbClr val="C2C4B5"/>
                </a:solidFill>
                <a:latin typeface="Bitter" pitchFamily="34" charset="0"/>
                <a:ea typeface="Bitter" pitchFamily="34" charset="-122"/>
                <a:cs typeface="Bitter"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09585" y="651686"/>
            <a:ext cx="4876678" cy="670520"/>
          </a:xfrm>
          <a:prstGeom prst="rect">
            <a:avLst/>
          </a:prstGeom>
          <a:noFill/>
          <a:ln/>
        </p:spPr>
        <p:txBody>
          <a:bodyPr wrap="none" lIns="0" tIns="0" rIns="0" bIns="0" rtlCol="0" anchor="t"/>
          <a:lstStyle/>
          <a:p>
            <a:pPr marL="0" indent="0" algn="l">
              <a:lnSpc>
                <a:spcPct val="92000"/>
              </a:lnSpc>
              <a:buNone/>
            </a:pPr>
            <a:r>
              <a:rPr lang="en-US" sz="4800" b="1" dirty="0">
                <a:solidFill>
                  <a:srgbClr val="E1E5CD"/>
                </a:solidFill>
                <a:latin typeface="Outfit Bold" pitchFamily="34" charset="0"/>
                <a:ea typeface="Outfit Bold" pitchFamily="34" charset="-122"/>
                <a:cs typeface="Outfit Bold" pitchFamily="34" charset="-120"/>
              </a:rPr>
              <a:t>String Builder</a:t>
            </a:r>
            <a:endParaRPr lang="en-US" sz="4800" dirty="0"/>
          </a:p>
        </p:txBody>
      </p:sp>
      <p:sp>
        <p:nvSpPr>
          <p:cNvPr id="3" name="Text 1"/>
          <p:cNvSpPr/>
          <p:nvPr/>
        </p:nvSpPr>
        <p:spPr>
          <a:xfrm>
            <a:off x="609585" y="1457920"/>
            <a:ext cx="4876678" cy="1568053"/>
          </a:xfrm>
          <a:prstGeom prst="rect">
            <a:avLst/>
          </a:prstGeom>
          <a:noFill/>
          <a:ln/>
        </p:spPr>
        <p:txBody>
          <a:bodyPr wrap="square" lIns="0" tIns="0" rIns="0" bIns="0" rtlCol="0" anchor="t">
            <a:normAutofit/>
          </a:bodyPr>
          <a:lstStyle/>
          <a:p>
            <a:pPr marL="0" indent="0" algn="l">
              <a:lnSpc>
                <a:spcPct val="117000"/>
              </a:lnSpc>
              <a:spcAft>
                <a:spcPts val="1200"/>
              </a:spcAft>
              <a:buNone/>
            </a:pPr>
            <a:r>
              <a:rPr lang="en-US" sz="1400" dirty="0">
                <a:solidFill>
                  <a:srgbClr val="C2C4B5"/>
                </a:solidFill>
                <a:highlight>
                  <a:srgbClr val="292A2C"/>
                </a:highlight>
                <a:latin typeface="Consolas" pitchFamily="34" charset="0"/>
                <a:ea typeface="Consolas" pitchFamily="34" charset="-122"/>
                <a:cs typeface="Consolas" pitchFamily="34" charset="-120"/>
              </a:rPr>
              <a:t>StringBuilder</a:t>
            </a:r>
            <a:r>
              <a:rPr lang="en-US" sz="1400" dirty="0">
                <a:solidFill>
                  <a:srgbClr val="C2C4B5"/>
                </a:solidFill>
                <a:latin typeface="Bitter" pitchFamily="34" charset="0"/>
                <a:ea typeface="Bitter" pitchFamily="34" charset="-122"/>
                <a:cs typeface="Bitter" pitchFamily="34" charset="-120"/>
              </a:rPr>
              <a:t> is used to build or modify text efficiently. It is useful when an ATM needs to add multiple transaction details to a history message. It is not thread-safe.</a:t>
            </a:r>
            <a:endParaRPr lang="en-US" sz="1400" dirty="0"/>
          </a:p>
          <a:p>
            <a:pPr marL="0" indent="0" algn="l">
              <a:lnSpc>
                <a:spcPct val="117000"/>
              </a:lnSpc>
              <a:spcAft>
                <a:spcPts val="1200"/>
              </a:spcAft>
              <a:buNone/>
            </a:pPr>
            <a:endParaRPr lang="en-US" sz="1400" dirty="0"/>
          </a:p>
          <a:p>
            <a:pPr marL="0" indent="0" algn="l">
              <a:lnSpc>
                <a:spcPct val="117000"/>
              </a:lnSpc>
              <a:buNone/>
            </a:pPr>
            <a:r>
              <a:rPr lang="en-US" sz="1400" dirty="0">
                <a:solidFill>
                  <a:srgbClr val="C2C4B5"/>
                </a:solidFill>
                <a:latin typeface="Bitter" pitchFamily="34" charset="0"/>
                <a:ea typeface="Bitter" pitchFamily="34" charset="-122"/>
                <a:cs typeface="Bitter" pitchFamily="34" charset="-120"/>
              </a:rPr>
              <a:t>Syntax:</a:t>
            </a:r>
            <a:endParaRPr lang="en-US" sz="1400" dirty="0"/>
          </a:p>
        </p:txBody>
      </p:sp>
      <p:sp>
        <p:nvSpPr>
          <p:cNvPr id="4" name="Shape 2"/>
          <p:cNvSpPr/>
          <p:nvPr/>
        </p:nvSpPr>
        <p:spPr>
          <a:xfrm>
            <a:off x="609585" y="3225998"/>
            <a:ext cx="4876678" cy="2062361"/>
          </a:xfrm>
          <a:prstGeom prst="roundRect">
            <a:avLst>
              <a:gd name="adj" fmla="val 1293"/>
            </a:avLst>
          </a:prstGeom>
          <a:solidFill>
            <a:srgbClr val="292A2C"/>
          </a:solidFill>
          <a:ln/>
        </p:spPr>
      </p:sp>
      <p:sp>
        <p:nvSpPr>
          <p:cNvPr id="5" name="Text 3"/>
          <p:cNvSpPr/>
          <p:nvPr/>
        </p:nvSpPr>
        <p:spPr>
          <a:xfrm>
            <a:off x="822900" y="3404116"/>
            <a:ext cx="4450048" cy="1706761"/>
          </a:xfrm>
          <a:prstGeom prst="rect">
            <a:avLst/>
          </a:prstGeom>
          <a:noFill/>
          <a:ln/>
        </p:spPr>
        <p:txBody>
          <a:bodyPr wrap="square" lIns="0" tIns="0" rIns="0" bIns="0" rtlCol="0" anchor="t">
            <a:normAutofit/>
          </a:bodyPr>
          <a:lstStyle/>
          <a:p>
            <a:pPr marL="0" indent="0" algn="l">
              <a:lnSpc>
                <a:spcPct val="133000"/>
              </a:lnSpc>
              <a:buNone/>
            </a:pPr>
            <a:r>
              <a:rPr lang="en-US" sz="1400" dirty="0">
                <a:solidFill>
                  <a:srgbClr val="E6EDF3"/>
                </a:solidFill>
                <a:latin typeface="Consolas" pitchFamily="34" charset="0"/>
                <a:ea typeface="Consolas" pitchFamily="34" charset="-122"/>
                <a:cs typeface="Consolas" pitchFamily="34" charset="-120"/>
              </a:rPr>
              <a:t>StringBuilder history = new StringBuilder();</a:t>
            </a:r>
            <a:endParaRPr lang="en-US" sz="1400" dirty="0"/>
          </a:p>
          <a:p>
            <a:pPr marL="0" indent="0" algn="l">
              <a:lnSpc>
                <a:spcPct val="133000"/>
              </a:lnSpc>
              <a:buNone/>
            </a:pPr>
            <a:endParaRPr lang="en-US" sz="1400" dirty="0"/>
          </a:p>
          <a:p>
            <a:pPr marL="0" indent="0" algn="l">
              <a:lnSpc>
                <a:spcPct val="133000"/>
              </a:lnSpc>
              <a:buNone/>
            </a:pPr>
            <a:r>
              <a:rPr lang="en-US" sz="1400" dirty="0">
                <a:solidFill>
                  <a:srgbClr val="E6EDF3"/>
                </a:solidFill>
                <a:latin typeface="Consolas" pitchFamily="34" charset="0"/>
                <a:ea typeface="Consolas" pitchFamily="34" charset="-122"/>
                <a:cs typeface="Consolas" pitchFamily="34" charset="-120"/>
              </a:rPr>
              <a:t>history.append("Deposit: Rs. 500\n");</a:t>
            </a:r>
            <a:endParaRPr lang="en-US" sz="1400" dirty="0"/>
          </a:p>
          <a:p>
            <a:pPr marL="0" indent="0" algn="l">
              <a:lnSpc>
                <a:spcPct val="133000"/>
              </a:lnSpc>
              <a:buNone/>
            </a:pPr>
            <a:r>
              <a:rPr lang="en-US" sz="1400" dirty="0">
                <a:solidFill>
                  <a:srgbClr val="E6EDF3"/>
                </a:solidFill>
                <a:latin typeface="Consolas" pitchFamily="34" charset="0"/>
                <a:ea typeface="Consolas" pitchFamily="34" charset="-122"/>
                <a:cs typeface="Consolas" pitchFamily="34" charset="-120"/>
              </a:rPr>
              <a:t>history.append("Withdrawal: Rs. 200\n");</a:t>
            </a:r>
            <a:endParaRPr lang="en-US" sz="1400" dirty="0"/>
          </a:p>
          <a:p>
            <a:pPr marL="0" indent="0" algn="l">
              <a:lnSpc>
                <a:spcPct val="133000"/>
              </a:lnSpc>
              <a:buNone/>
            </a:pPr>
            <a:endParaRPr lang="en-US" sz="1400" dirty="0"/>
          </a:p>
          <a:p>
            <a:pPr marL="0" indent="0" algn="l">
              <a:lnSpc>
                <a:spcPct val="133000"/>
              </a:lnSpc>
              <a:buNone/>
            </a:pPr>
            <a:r>
              <a:rPr lang="en-US" sz="1400" dirty="0">
                <a:solidFill>
                  <a:srgbClr val="E6EDF3"/>
                </a:solidFill>
                <a:latin typeface="Consolas" pitchFamily="34" charset="0"/>
                <a:ea typeface="Consolas" pitchFamily="34" charset="-122"/>
                <a:cs typeface="Consolas" pitchFamily="34" charset="-120"/>
              </a:rPr>
              <a:t>System.out.println(history);</a:t>
            </a:r>
            <a:endParaRPr lang="en-US" sz="1400" dirty="0"/>
          </a:p>
        </p:txBody>
      </p:sp>
      <p:sp>
        <p:nvSpPr>
          <p:cNvPr id="6" name="Text 4"/>
          <p:cNvSpPr/>
          <p:nvPr/>
        </p:nvSpPr>
        <p:spPr>
          <a:xfrm>
            <a:off x="6705432" y="651686"/>
            <a:ext cx="4876678" cy="670520"/>
          </a:xfrm>
          <a:prstGeom prst="rect">
            <a:avLst/>
          </a:prstGeom>
          <a:noFill/>
          <a:ln/>
        </p:spPr>
        <p:txBody>
          <a:bodyPr wrap="none" lIns="0" tIns="0" rIns="0" bIns="0" rtlCol="0" anchor="t"/>
          <a:lstStyle/>
          <a:p>
            <a:pPr marL="0" indent="0" algn="l">
              <a:lnSpc>
                <a:spcPct val="92000"/>
              </a:lnSpc>
              <a:buNone/>
            </a:pPr>
            <a:r>
              <a:rPr lang="en-US" sz="4800" b="1" dirty="0">
                <a:solidFill>
                  <a:srgbClr val="E1E5CD"/>
                </a:solidFill>
                <a:latin typeface="Outfit Bold" pitchFamily="34" charset="0"/>
                <a:ea typeface="Outfit Bold" pitchFamily="34" charset="-122"/>
                <a:cs typeface="Outfit Bold" pitchFamily="34" charset="-120"/>
              </a:rPr>
              <a:t>String Buffer</a:t>
            </a:r>
            <a:endParaRPr lang="en-US" sz="4800" dirty="0"/>
          </a:p>
        </p:txBody>
      </p:sp>
      <p:sp>
        <p:nvSpPr>
          <p:cNvPr id="7" name="Text 5"/>
          <p:cNvSpPr/>
          <p:nvPr/>
        </p:nvSpPr>
        <p:spPr>
          <a:xfrm>
            <a:off x="6705432" y="1457920"/>
            <a:ext cx="4876678" cy="1568053"/>
          </a:xfrm>
          <a:prstGeom prst="rect">
            <a:avLst/>
          </a:prstGeom>
          <a:noFill/>
          <a:ln/>
        </p:spPr>
        <p:txBody>
          <a:bodyPr wrap="square" lIns="0" tIns="0" rIns="0" bIns="0" rtlCol="0" anchor="t">
            <a:normAutofit/>
          </a:bodyPr>
          <a:lstStyle/>
          <a:p>
            <a:pPr marL="0" indent="0" algn="l">
              <a:lnSpc>
                <a:spcPct val="117000"/>
              </a:lnSpc>
              <a:spcAft>
                <a:spcPts val="1200"/>
              </a:spcAft>
              <a:buNone/>
            </a:pPr>
            <a:r>
              <a:rPr lang="en-US" sz="1400" dirty="0">
                <a:solidFill>
                  <a:srgbClr val="C2C4B5"/>
                </a:solidFill>
                <a:highlight>
                  <a:srgbClr val="292A2C"/>
                </a:highlight>
                <a:latin typeface="Consolas" pitchFamily="34" charset="0"/>
                <a:ea typeface="Consolas" pitchFamily="34" charset="-122"/>
                <a:cs typeface="Consolas" pitchFamily="34" charset="-120"/>
              </a:rPr>
              <a:t>StringBuffer</a:t>
            </a:r>
            <a:r>
              <a:rPr lang="en-US" sz="1400" dirty="0">
                <a:solidFill>
                  <a:srgbClr val="C2C4B5"/>
                </a:solidFill>
                <a:latin typeface="Bitter" pitchFamily="34" charset="0"/>
                <a:ea typeface="Bitter" pitchFamily="34" charset="-122"/>
                <a:cs typeface="Bitter" pitchFamily="34" charset="-120"/>
              </a:rPr>
              <a:t> is similar to </a:t>
            </a:r>
            <a:r>
              <a:rPr lang="en-US" sz="1400" dirty="0">
                <a:solidFill>
                  <a:srgbClr val="C2C4B5"/>
                </a:solidFill>
                <a:highlight>
                  <a:srgbClr val="292A2C"/>
                </a:highlight>
                <a:latin typeface="Consolas" pitchFamily="34" charset="0"/>
                <a:ea typeface="Consolas" pitchFamily="34" charset="-122"/>
                <a:cs typeface="Consolas" pitchFamily="34" charset="-120"/>
              </a:rPr>
              <a:t>StringBuilder</a:t>
            </a:r>
            <a:r>
              <a:rPr lang="en-US" sz="1400" dirty="0">
                <a:solidFill>
                  <a:srgbClr val="C2C4B5"/>
                </a:solidFill>
                <a:latin typeface="Bitter" pitchFamily="34" charset="0"/>
                <a:ea typeface="Bitter" pitchFamily="34" charset="-122"/>
                <a:cs typeface="Bitter" pitchFamily="34" charset="-120"/>
              </a:rPr>
              <a:t>, but its methods are synchronized, making it suitable when multiple threads share and modify the same buffer</a:t>
            </a:r>
            <a:endParaRPr lang="en-US" sz="1400" dirty="0"/>
          </a:p>
          <a:p>
            <a:pPr marL="0" indent="0" algn="l">
              <a:lnSpc>
                <a:spcPct val="117000"/>
              </a:lnSpc>
              <a:spcAft>
                <a:spcPts val="1200"/>
              </a:spcAft>
              <a:buNone/>
            </a:pPr>
            <a:endParaRPr lang="en-US" sz="1400" dirty="0"/>
          </a:p>
          <a:p>
            <a:pPr marL="0" indent="0" algn="l">
              <a:lnSpc>
                <a:spcPct val="117000"/>
              </a:lnSpc>
              <a:buNone/>
            </a:pPr>
            <a:r>
              <a:rPr lang="en-US" sz="1400" dirty="0">
                <a:solidFill>
                  <a:srgbClr val="C2C4B5"/>
                </a:solidFill>
                <a:latin typeface="Bitter" pitchFamily="34" charset="0"/>
                <a:ea typeface="Bitter" pitchFamily="34" charset="-122"/>
                <a:cs typeface="Bitter" pitchFamily="34" charset="-120"/>
              </a:rPr>
              <a:t>Syntax:</a:t>
            </a:r>
            <a:endParaRPr lang="en-US" sz="1400" dirty="0"/>
          </a:p>
        </p:txBody>
      </p:sp>
      <p:sp>
        <p:nvSpPr>
          <p:cNvPr id="8" name="Shape 6"/>
          <p:cNvSpPr/>
          <p:nvPr/>
        </p:nvSpPr>
        <p:spPr>
          <a:xfrm>
            <a:off x="6705432" y="3225998"/>
            <a:ext cx="4876678" cy="2062361"/>
          </a:xfrm>
          <a:prstGeom prst="roundRect">
            <a:avLst>
              <a:gd name="adj" fmla="val 1293"/>
            </a:avLst>
          </a:prstGeom>
          <a:solidFill>
            <a:srgbClr val="292A2C"/>
          </a:solidFill>
          <a:ln/>
        </p:spPr>
      </p:sp>
      <p:sp>
        <p:nvSpPr>
          <p:cNvPr id="9" name="Text 7"/>
          <p:cNvSpPr/>
          <p:nvPr/>
        </p:nvSpPr>
        <p:spPr>
          <a:xfrm>
            <a:off x="6918747" y="3404116"/>
            <a:ext cx="4450048" cy="1706761"/>
          </a:xfrm>
          <a:prstGeom prst="rect">
            <a:avLst/>
          </a:prstGeom>
          <a:noFill/>
          <a:ln/>
        </p:spPr>
        <p:txBody>
          <a:bodyPr wrap="square" lIns="0" tIns="0" rIns="0" bIns="0" rtlCol="0" anchor="t">
            <a:normAutofit/>
          </a:bodyPr>
          <a:lstStyle/>
          <a:p>
            <a:pPr marL="0" indent="0" algn="l">
              <a:lnSpc>
                <a:spcPct val="133000"/>
              </a:lnSpc>
              <a:buNone/>
            </a:pPr>
            <a:r>
              <a:rPr lang="en-US" sz="1400" dirty="0">
                <a:solidFill>
                  <a:srgbClr val="E6EDF3"/>
                </a:solidFill>
                <a:latin typeface="Consolas" pitchFamily="34" charset="0"/>
                <a:ea typeface="Consolas" pitchFamily="34" charset="-122"/>
                <a:cs typeface="Consolas" pitchFamily="34" charset="-120"/>
              </a:rPr>
              <a:t>StringBuffer history = new StringBuffer();</a:t>
            </a:r>
            <a:endParaRPr lang="en-US" sz="1400" dirty="0"/>
          </a:p>
          <a:p>
            <a:pPr marL="0" indent="0" algn="l">
              <a:lnSpc>
                <a:spcPct val="133000"/>
              </a:lnSpc>
              <a:buNone/>
            </a:pPr>
            <a:endParaRPr lang="en-US" sz="1400" dirty="0"/>
          </a:p>
          <a:p>
            <a:pPr marL="0" indent="0" algn="l">
              <a:lnSpc>
                <a:spcPct val="133000"/>
              </a:lnSpc>
              <a:buNone/>
            </a:pPr>
            <a:r>
              <a:rPr lang="en-US" sz="1400" dirty="0">
                <a:solidFill>
                  <a:srgbClr val="E6EDF3"/>
                </a:solidFill>
                <a:latin typeface="Consolas" pitchFamily="34" charset="0"/>
                <a:ea typeface="Consolas" pitchFamily="34" charset="-122"/>
                <a:cs typeface="Consolas" pitchFamily="34" charset="-120"/>
              </a:rPr>
              <a:t>history.append("Deposit: Rs. 1000\n");</a:t>
            </a:r>
            <a:endParaRPr lang="en-US" sz="1400" dirty="0"/>
          </a:p>
          <a:p>
            <a:pPr marL="0" indent="0" algn="l">
              <a:lnSpc>
                <a:spcPct val="133000"/>
              </a:lnSpc>
              <a:buNone/>
            </a:pPr>
            <a:r>
              <a:rPr lang="en-US" sz="1400" dirty="0">
                <a:solidFill>
                  <a:srgbClr val="E6EDF3"/>
                </a:solidFill>
                <a:latin typeface="Consolas" pitchFamily="34" charset="0"/>
                <a:ea typeface="Consolas" pitchFamily="34" charset="-122"/>
                <a:cs typeface="Consolas" pitchFamily="34" charset="-120"/>
              </a:rPr>
              <a:t>history.append("Balance: Rs. 5000\n");</a:t>
            </a:r>
            <a:endParaRPr lang="en-US" sz="1400" dirty="0"/>
          </a:p>
          <a:p>
            <a:pPr marL="0" indent="0" algn="l">
              <a:lnSpc>
                <a:spcPct val="133000"/>
              </a:lnSpc>
              <a:buNone/>
            </a:pPr>
            <a:endParaRPr lang="en-US" sz="1400" dirty="0"/>
          </a:p>
          <a:p>
            <a:pPr marL="0" indent="0" algn="l">
              <a:lnSpc>
                <a:spcPct val="133000"/>
              </a:lnSpc>
              <a:buNone/>
            </a:pPr>
            <a:r>
              <a:rPr lang="en-US" sz="1400" dirty="0">
                <a:solidFill>
                  <a:srgbClr val="E6EDF3"/>
                </a:solidFill>
                <a:latin typeface="Consolas" pitchFamily="34" charset="0"/>
                <a:ea typeface="Consolas" pitchFamily="34" charset="-122"/>
                <a:cs typeface="Consolas" pitchFamily="34" charset="-120"/>
              </a:rPr>
              <a:t>System.out.println(history);</a:t>
            </a:r>
            <a:endParaRPr lang="en-US" sz="1400" dirty="0"/>
          </a:p>
        </p:txBody>
      </p:sp>
      <p:sp>
        <p:nvSpPr>
          <p:cNvPr id="10" name="Shape 8"/>
          <p:cNvSpPr/>
          <p:nvPr/>
        </p:nvSpPr>
        <p:spPr>
          <a:xfrm>
            <a:off x="6086323" y="0"/>
            <a:ext cx="19050" cy="6858000"/>
          </a:xfrm>
          <a:prstGeom prst="rect">
            <a:avLst/>
          </a:prstGeom>
          <a:solidFill>
            <a:srgbClr val="808080">
              <a:alpha val="35000"/>
            </a:srgbClr>
          </a:solidFill>
          <a:ln/>
        </p:spPr>
      </p:sp>
      <p:sp>
        <p:nvSpPr>
          <p:cNvPr id="11" name="Text 9"/>
          <p:cNvSpPr/>
          <p:nvPr/>
        </p:nvSpPr>
        <p:spPr>
          <a:xfrm>
            <a:off x="11902876" y="6466086"/>
            <a:ext cx="288819" cy="174129"/>
          </a:xfrm>
          <a:prstGeom prst="rect">
            <a:avLst/>
          </a:prstGeom>
          <a:noFill/>
          <a:ln/>
        </p:spPr>
        <p:txBody>
          <a:bodyPr wrap="none" lIns="0" tIns="0" rIns="0" bIns="0" rtlCol="0" anchor="ctr"/>
          <a:lstStyle/>
          <a:p>
            <a:pPr marL="0" indent="0" algn="l">
              <a:lnSpc>
                <a:spcPct val="117000"/>
              </a:lnSpc>
              <a:buNone/>
            </a:pPr>
            <a:r>
              <a:rPr lang="en-US" sz="1000" kern="100" spc="39" dirty="0">
                <a:solidFill>
                  <a:srgbClr val="C2C4B5"/>
                </a:solidFill>
                <a:latin typeface="Bitter" pitchFamily="34" charset="0"/>
                <a:ea typeface="Bitter" pitchFamily="34" charset="-122"/>
                <a:cs typeface="Bitter"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09585" y="637822"/>
            <a:ext cx="10972526" cy="446980"/>
          </a:xfrm>
          <a:prstGeom prst="rect">
            <a:avLst/>
          </a:prstGeom>
          <a:noFill/>
          <a:ln/>
        </p:spPr>
        <p:txBody>
          <a:bodyPr wrap="none" lIns="0" tIns="0" rIns="0" bIns="0" rtlCol="0" anchor="t"/>
          <a:lstStyle/>
          <a:p>
            <a:pPr marL="0" indent="0" algn="l">
              <a:lnSpc>
                <a:spcPct val="92000"/>
              </a:lnSpc>
              <a:buNone/>
            </a:pPr>
            <a:r>
              <a:rPr lang="en-US" sz="3200" b="1" dirty="0">
                <a:solidFill>
                  <a:srgbClr val="E1E5CD"/>
                </a:solidFill>
                <a:latin typeface="Outfit Bold" pitchFamily="34" charset="0"/>
                <a:ea typeface="Outfit Bold" pitchFamily="34" charset="-122"/>
                <a:cs typeface="Outfit Bold" pitchFamily="34" charset="-120"/>
              </a:rPr>
              <a:t>Collections, Lambda, and Streams in the ATM</a:t>
            </a:r>
            <a:endParaRPr lang="en-US" sz="3200" dirty="0"/>
          </a:p>
        </p:txBody>
      </p:sp>
      <p:sp>
        <p:nvSpPr>
          <p:cNvPr id="3" name="Text 1"/>
          <p:cNvSpPr/>
          <p:nvPr/>
        </p:nvSpPr>
        <p:spPr>
          <a:xfrm>
            <a:off x="609585" y="1252684"/>
            <a:ext cx="3352716" cy="558800"/>
          </a:xfrm>
          <a:prstGeom prst="rect">
            <a:avLst/>
          </a:prstGeom>
          <a:noFill/>
          <a:ln/>
        </p:spPr>
        <p:txBody>
          <a:bodyPr wrap="square" lIns="0" tIns="0" rIns="0" bIns="0" rtlCol="0" anchor="t">
            <a:normAutofit lnSpcReduction="10000"/>
          </a:bodyPr>
          <a:lstStyle/>
          <a:p>
            <a:pPr marL="0" indent="0" algn="l">
              <a:lnSpc>
                <a:spcPct val="92000"/>
              </a:lnSpc>
              <a:buNone/>
            </a:pPr>
            <a:r>
              <a:rPr lang="en-US" sz="2000" b="1" dirty="0">
                <a:solidFill>
                  <a:srgbClr val="E1E5CD"/>
                </a:solidFill>
                <a:latin typeface="Outfit Bold" pitchFamily="34" charset="0"/>
                <a:ea typeface="Outfit Bold" pitchFamily="34" charset="-122"/>
                <a:cs typeface="Outfit Bold" pitchFamily="34" charset="-120"/>
              </a:rPr>
              <a:t>1. ArrayList stores transaction records</a:t>
            </a:r>
            <a:endParaRPr lang="en-US" sz="2000" dirty="0"/>
          </a:p>
        </p:txBody>
      </p:sp>
      <p:sp>
        <p:nvSpPr>
          <p:cNvPr id="4" name="Text 2"/>
          <p:cNvSpPr/>
          <p:nvPr/>
        </p:nvSpPr>
        <p:spPr>
          <a:xfrm>
            <a:off x="609585" y="1920180"/>
            <a:ext cx="3352716" cy="497681"/>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C2C4B5"/>
                </a:solidFill>
                <a:latin typeface="Bitter" pitchFamily="34" charset="0"/>
                <a:ea typeface="Bitter" pitchFamily="34" charset="-122"/>
                <a:cs typeface="Bitter" pitchFamily="34" charset="-120"/>
              </a:rPr>
              <a:t>An ArrayList keeps the ATM's transactions in order.</a:t>
            </a:r>
            <a:endParaRPr lang="en-US" sz="1400" dirty="0"/>
          </a:p>
        </p:txBody>
      </p:sp>
      <p:sp>
        <p:nvSpPr>
          <p:cNvPr id="5" name="Shape 3"/>
          <p:cNvSpPr/>
          <p:nvPr/>
        </p:nvSpPr>
        <p:spPr>
          <a:xfrm>
            <a:off x="609585" y="2617887"/>
            <a:ext cx="3352716" cy="1777901"/>
          </a:xfrm>
          <a:prstGeom prst="roundRect">
            <a:avLst>
              <a:gd name="adj" fmla="val 1500"/>
            </a:avLst>
          </a:prstGeom>
          <a:solidFill>
            <a:srgbClr val="292A2C"/>
          </a:solidFill>
          <a:ln/>
        </p:spPr>
      </p:sp>
      <p:sp>
        <p:nvSpPr>
          <p:cNvPr id="6" name="Text 4"/>
          <p:cNvSpPr/>
          <p:nvPr/>
        </p:nvSpPr>
        <p:spPr>
          <a:xfrm>
            <a:off x="822900" y="2796004"/>
            <a:ext cx="2926086" cy="1422301"/>
          </a:xfrm>
          <a:prstGeom prst="rect">
            <a:avLst/>
          </a:prstGeom>
          <a:noFill/>
          <a:ln/>
        </p:spPr>
        <p:txBody>
          <a:bodyPr wrap="square" lIns="0" tIns="0" rIns="0" bIns="0" rtlCol="0" anchor="t">
            <a:normAutofit/>
          </a:bodyPr>
          <a:lstStyle/>
          <a:p>
            <a:pPr marL="0" indent="0" algn="l">
              <a:lnSpc>
                <a:spcPct val="133000"/>
              </a:lnSpc>
              <a:buNone/>
            </a:pPr>
            <a:r>
              <a:rPr lang="en-US" sz="1400" dirty="0">
                <a:solidFill>
                  <a:srgbClr val="E6EDF3"/>
                </a:solidFill>
                <a:latin typeface="Consolas" pitchFamily="34" charset="0"/>
                <a:ea typeface="Consolas" pitchFamily="34" charset="-122"/>
                <a:cs typeface="Consolas" pitchFamily="34" charset="-120"/>
              </a:rPr>
              <a:t>List&lt;Double&gt; deposits = new ArrayList&lt;&gt;();</a:t>
            </a:r>
            <a:endParaRPr lang="en-US" sz="1400" dirty="0"/>
          </a:p>
          <a:p>
            <a:pPr marL="0" indent="0" algn="l">
              <a:lnSpc>
                <a:spcPct val="133000"/>
              </a:lnSpc>
              <a:buNone/>
            </a:pPr>
            <a:r>
              <a:rPr lang="en-US" sz="1400" dirty="0">
                <a:solidFill>
                  <a:srgbClr val="E6EDF3"/>
                </a:solidFill>
                <a:latin typeface="Consolas" pitchFamily="34" charset="0"/>
                <a:ea typeface="Consolas" pitchFamily="34" charset="-122"/>
                <a:cs typeface="Consolas" pitchFamily="34" charset="-120"/>
              </a:rPr>
              <a:t>deposits.add(500.0);</a:t>
            </a:r>
            <a:endParaRPr lang="en-US" sz="1400" dirty="0"/>
          </a:p>
          <a:p>
            <a:pPr marL="0" indent="0" algn="l">
              <a:lnSpc>
                <a:spcPct val="133000"/>
              </a:lnSpc>
              <a:buNone/>
            </a:pPr>
            <a:r>
              <a:rPr lang="en-US" sz="1400" dirty="0">
                <a:solidFill>
                  <a:srgbClr val="E6EDF3"/>
                </a:solidFill>
                <a:latin typeface="Consolas" pitchFamily="34" charset="0"/>
                <a:ea typeface="Consolas" pitchFamily="34" charset="-122"/>
                <a:cs typeface="Consolas" pitchFamily="34" charset="-120"/>
              </a:rPr>
              <a:t>deposits.add(120.0);</a:t>
            </a:r>
            <a:endParaRPr lang="en-US" sz="1400" dirty="0"/>
          </a:p>
          <a:p>
            <a:pPr marL="0" indent="0" algn="l">
              <a:lnSpc>
                <a:spcPct val="133000"/>
              </a:lnSpc>
              <a:buNone/>
            </a:pPr>
            <a:r>
              <a:rPr lang="en-US" sz="1400" dirty="0">
                <a:solidFill>
                  <a:srgbClr val="E6EDF3"/>
                </a:solidFill>
                <a:latin typeface="Consolas" pitchFamily="34" charset="0"/>
                <a:ea typeface="Consolas" pitchFamily="34" charset="-122"/>
                <a:cs typeface="Consolas" pitchFamily="34" charset="-120"/>
              </a:rPr>
              <a:t>deposits.add(60.0);</a:t>
            </a:r>
            <a:endParaRPr lang="en-US" sz="1400" dirty="0"/>
          </a:p>
        </p:txBody>
      </p:sp>
      <p:sp>
        <p:nvSpPr>
          <p:cNvPr id="7" name="Text 5"/>
          <p:cNvSpPr/>
          <p:nvPr/>
        </p:nvSpPr>
        <p:spPr>
          <a:xfrm>
            <a:off x="4419489" y="1252684"/>
            <a:ext cx="3352716" cy="558800"/>
          </a:xfrm>
          <a:prstGeom prst="rect">
            <a:avLst/>
          </a:prstGeom>
          <a:noFill/>
          <a:ln/>
        </p:spPr>
        <p:txBody>
          <a:bodyPr wrap="square" lIns="0" tIns="0" rIns="0" bIns="0" rtlCol="0" anchor="t">
            <a:normAutofit lnSpcReduction="10000"/>
          </a:bodyPr>
          <a:lstStyle/>
          <a:p>
            <a:pPr marL="0" indent="0" algn="l">
              <a:lnSpc>
                <a:spcPct val="92000"/>
              </a:lnSpc>
              <a:buNone/>
            </a:pPr>
            <a:r>
              <a:rPr lang="en-US" sz="2000" b="1" dirty="0">
                <a:solidFill>
                  <a:srgbClr val="E1E5CD"/>
                </a:solidFill>
                <a:latin typeface="Outfit Bold" pitchFamily="34" charset="0"/>
                <a:ea typeface="Outfit Bold" pitchFamily="34" charset="-122"/>
                <a:cs typeface="Outfit Bold" pitchFamily="34" charset="-120"/>
              </a:rPr>
              <a:t>2. A lambda processes each record</a:t>
            </a:r>
            <a:endParaRPr lang="en-US" sz="2000" dirty="0"/>
          </a:p>
        </p:txBody>
      </p:sp>
      <p:sp>
        <p:nvSpPr>
          <p:cNvPr id="8" name="Text 6"/>
          <p:cNvSpPr/>
          <p:nvPr/>
        </p:nvSpPr>
        <p:spPr>
          <a:xfrm>
            <a:off x="4419489" y="1920180"/>
            <a:ext cx="3352716" cy="497681"/>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C2C4B5"/>
                </a:solidFill>
                <a:latin typeface="Bitter" pitchFamily="34" charset="0"/>
                <a:ea typeface="Bitter" pitchFamily="34" charset="-122"/>
                <a:cs typeface="Bitter" pitchFamily="34" charset="-120"/>
              </a:rPr>
              <a:t>A lambda is a short inline function. Here it prints each transaction.</a:t>
            </a:r>
            <a:endParaRPr lang="en-US" sz="1400" dirty="0"/>
          </a:p>
        </p:txBody>
      </p:sp>
      <p:sp>
        <p:nvSpPr>
          <p:cNvPr id="9" name="Shape 7"/>
          <p:cNvSpPr/>
          <p:nvPr/>
        </p:nvSpPr>
        <p:spPr>
          <a:xfrm>
            <a:off x="4419489" y="2617887"/>
            <a:ext cx="3352716" cy="1208980"/>
          </a:xfrm>
          <a:prstGeom prst="roundRect">
            <a:avLst>
              <a:gd name="adj" fmla="val 2206"/>
            </a:avLst>
          </a:prstGeom>
          <a:solidFill>
            <a:srgbClr val="292A2C"/>
          </a:solidFill>
          <a:ln/>
        </p:spPr>
      </p:sp>
      <p:sp>
        <p:nvSpPr>
          <p:cNvPr id="10" name="Text 8"/>
          <p:cNvSpPr/>
          <p:nvPr/>
        </p:nvSpPr>
        <p:spPr>
          <a:xfrm>
            <a:off x="4632804" y="2796004"/>
            <a:ext cx="2926086" cy="853380"/>
          </a:xfrm>
          <a:prstGeom prst="rect">
            <a:avLst/>
          </a:prstGeom>
          <a:noFill/>
          <a:ln/>
        </p:spPr>
        <p:txBody>
          <a:bodyPr wrap="square" lIns="0" tIns="0" rIns="0" bIns="0" rtlCol="0" anchor="t">
            <a:normAutofit fontScale="92500"/>
          </a:bodyPr>
          <a:lstStyle/>
          <a:p>
            <a:pPr marL="0" indent="0" algn="l">
              <a:lnSpc>
                <a:spcPct val="133000"/>
              </a:lnSpc>
              <a:buNone/>
            </a:pPr>
            <a:r>
              <a:rPr lang="en-US" sz="1400" dirty="0">
                <a:solidFill>
                  <a:srgbClr val="E6EDF3"/>
                </a:solidFill>
                <a:latin typeface="Consolas" pitchFamily="34" charset="0"/>
                <a:ea typeface="Consolas" pitchFamily="34" charset="-122"/>
                <a:cs typeface="Consolas" pitchFamily="34" charset="-120"/>
              </a:rPr>
              <a:t>deposits.forEach(amount -&gt;</a:t>
            </a:r>
            <a:endParaRPr lang="en-US" sz="1400" dirty="0"/>
          </a:p>
          <a:p>
            <a:pPr marL="0" indent="0" algn="l">
              <a:lnSpc>
                <a:spcPct val="133000"/>
              </a:lnSpc>
              <a:buNone/>
            </a:pPr>
            <a:r>
              <a:rPr lang="en-US" sz="1400" dirty="0">
                <a:solidFill>
                  <a:srgbClr val="E6EDF3"/>
                </a:solidFill>
                <a:latin typeface="Consolas" pitchFamily="34" charset="0"/>
                <a:ea typeface="Consolas" pitchFamily="34" charset="-122"/>
                <a:cs typeface="Consolas" pitchFamily="34" charset="-120"/>
              </a:rPr>
              <a:t>    System.out.println("Deposit: " + amount));</a:t>
            </a:r>
            <a:endParaRPr lang="en-US" sz="1400" dirty="0"/>
          </a:p>
        </p:txBody>
      </p:sp>
      <p:sp>
        <p:nvSpPr>
          <p:cNvPr id="11" name="Text 9"/>
          <p:cNvSpPr/>
          <p:nvPr/>
        </p:nvSpPr>
        <p:spPr>
          <a:xfrm>
            <a:off x="8229394" y="1252684"/>
            <a:ext cx="3352716" cy="558800"/>
          </a:xfrm>
          <a:prstGeom prst="rect">
            <a:avLst/>
          </a:prstGeom>
          <a:noFill/>
          <a:ln/>
        </p:spPr>
        <p:txBody>
          <a:bodyPr wrap="square" lIns="0" tIns="0" rIns="0" bIns="0" rtlCol="0" anchor="t">
            <a:normAutofit lnSpcReduction="10000"/>
          </a:bodyPr>
          <a:lstStyle/>
          <a:p>
            <a:pPr marL="0" indent="0" algn="l">
              <a:lnSpc>
                <a:spcPct val="92000"/>
              </a:lnSpc>
              <a:buNone/>
            </a:pPr>
            <a:r>
              <a:rPr lang="en-US" sz="2000" b="1" dirty="0">
                <a:solidFill>
                  <a:srgbClr val="E1E5CD"/>
                </a:solidFill>
                <a:latin typeface="Outfit Bold" pitchFamily="34" charset="0"/>
                <a:ea typeface="Outfit Bold" pitchFamily="34" charset="-122"/>
                <a:cs typeface="Outfit Bold" pitchFamily="34" charset="-120"/>
              </a:rPr>
              <a:t>3. Streams filter and total deposits</a:t>
            </a:r>
            <a:endParaRPr lang="en-US" sz="2000" dirty="0"/>
          </a:p>
        </p:txBody>
      </p:sp>
      <p:sp>
        <p:nvSpPr>
          <p:cNvPr id="12" name="Text 10"/>
          <p:cNvSpPr/>
          <p:nvPr/>
        </p:nvSpPr>
        <p:spPr>
          <a:xfrm>
            <a:off x="8229394" y="1920180"/>
            <a:ext cx="3352716" cy="497681"/>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C2C4B5"/>
                </a:solidFill>
                <a:latin typeface="Bitter" pitchFamily="34" charset="0"/>
                <a:ea typeface="Bitter" pitchFamily="34" charset="-122"/>
                <a:cs typeface="Bitter" pitchFamily="34" charset="-120"/>
              </a:rPr>
              <a:t>This stream keeps deposits above 100 and adds them up.</a:t>
            </a:r>
            <a:endParaRPr lang="en-US" sz="1400" dirty="0"/>
          </a:p>
        </p:txBody>
      </p:sp>
      <p:sp>
        <p:nvSpPr>
          <p:cNvPr id="13" name="Shape 11"/>
          <p:cNvSpPr/>
          <p:nvPr/>
        </p:nvSpPr>
        <p:spPr>
          <a:xfrm>
            <a:off x="8229394" y="2617887"/>
            <a:ext cx="3352716" cy="2062361"/>
          </a:xfrm>
          <a:prstGeom prst="roundRect">
            <a:avLst>
              <a:gd name="adj" fmla="val 1293"/>
            </a:avLst>
          </a:prstGeom>
          <a:solidFill>
            <a:srgbClr val="292A2C"/>
          </a:solidFill>
          <a:ln/>
        </p:spPr>
      </p:sp>
      <p:sp>
        <p:nvSpPr>
          <p:cNvPr id="14" name="Text 12"/>
          <p:cNvSpPr/>
          <p:nvPr/>
        </p:nvSpPr>
        <p:spPr>
          <a:xfrm>
            <a:off x="8442709" y="2796004"/>
            <a:ext cx="2926086" cy="1706761"/>
          </a:xfrm>
          <a:prstGeom prst="rect">
            <a:avLst/>
          </a:prstGeom>
          <a:noFill/>
          <a:ln/>
        </p:spPr>
        <p:txBody>
          <a:bodyPr wrap="square" lIns="0" tIns="0" rIns="0" bIns="0" rtlCol="0" anchor="t">
            <a:normAutofit fontScale="92500" lnSpcReduction="10000"/>
          </a:bodyPr>
          <a:lstStyle/>
          <a:p>
            <a:pPr marL="0" indent="0" algn="l">
              <a:lnSpc>
                <a:spcPct val="133000"/>
              </a:lnSpc>
              <a:buNone/>
            </a:pPr>
            <a:r>
              <a:rPr lang="en-US" sz="1400" dirty="0">
                <a:solidFill>
                  <a:srgbClr val="E6EDF3"/>
                </a:solidFill>
                <a:latin typeface="Consolas" pitchFamily="34" charset="0"/>
                <a:ea typeface="Consolas" pitchFamily="34" charset="-122"/>
                <a:cs typeface="Consolas" pitchFamily="34" charset="-120"/>
              </a:rPr>
              <a:t>double total = deposits.stream()</a:t>
            </a:r>
            <a:endParaRPr lang="en-US" sz="1400" dirty="0"/>
          </a:p>
          <a:p>
            <a:pPr marL="0" indent="0" algn="l">
              <a:lnSpc>
                <a:spcPct val="133000"/>
              </a:lnSpc>
              <a:buNone/>
            </a:pPr>
            <a:r>
              <a:rPr lang="en-US" sz="1400" dirty="0">
                <a:solidFill>
                  <a:srgbClr val="E6EDF3"/>
                </a:solidFill>
                <a:latin typeface="Consolas" pitchFamily="34" charset="0"/>
                <a:ea typeface="Consolas" pitchFamily="34" charset="-122"/>
                <a:cs typeface="Consolas" pitchFamily="34" charset="-120"/>
              </a:rPr>
              <a:t>    .filter(amount -&gt; amount &gt; 100)</a:t>
            </a:r>
            <a:endParaRPr lang="en-US" sz="1400" dirty="0"/>
          </a:p>
          <a:p>
            <a:pPr marL="0" indent="0" algn="l">
              <a:lnSpc>
                <a:spcPct val="133000"/>
              </a:lnSpc>
              <a:buNone/>
            </a:pPr>
            <a:r>
              <a:rPr lang="en-US" sz="1400" dirty="0">
                <a:solidFill>
                  <a:srgbClr val="E6EDF3"/>
                </a:solidFill>
                <a:latin typeface="Consolas" pitchFamily="34" charset="0"/>
                <a:ea typeface="Consolas" pitchFamily="34" charset="-122"/>
                <a:cs typeface="Consolas" pitchFamily="34" charset="-120"/>
              </a:rPr>
              <a:t>    .mapToDouble(Double::doubleValue)</a:t>
            </a:r>
            <a:endParaRPr lang="en-US" sz="1400" dirty="0"/>
          </a:p>
          <a:p>
            <a:pPr marL="0" indent="0" algn="l">
              <a:lnSpc>
                <a:spcPct val="133000"/>
              </a:lnSpc>
              <a:buNone/>
            </a:pPr>
            <a:r>
              <a:rPr lang="en-US" sz="1400" dirty="0">
                <a:solidFill>
                  <a:srgbClr val="E6EDF3"/>
                </a:solidFill>
                <a:latin typeface="Consolas" pitchFamily="34" charset="0"/>
                <a:ea typeface="Consolas" pitchFamily="34" charset="-122"/>
                <a:cs typeface="Consolas" pitchFamily="34" charset="-120"/>
              </a:rPr>
              <a:t>    .sum();</a:t>
            </a:r>
            <a:endParaRPr lang="en-US" sz="1400" dirty="0"/>
          </a:p>
        </p:txBody>
      </p:sp>
      <p:sp>
        <p:nvSpPr>
          <p:cNvPr id="15" name="Text 13"/>
          <p:cNvSpPr/>
          <p:nvPr/>
        </p:nvSpPr>
        <p:spPr>
          <a:xfrm>
            <a:off x="11885712" y="6466086"/>
            <a:ext cx="305983" cy="174129"/>
          </a:xfrm>
          <a:prstGeom prst="rect">
            <a:avLst/>
          </a:prstGeom>
          <a:noFill/>
          <a:ln/>
        </p:spPr>
        <p:txBody>
          <a:bodyPr wrap="none" lIns="0" tIns="0" rIns="0" bIns="0" rtlCol="0" anchor="ctr"/>
          <a:lstStyle/>
          <a:p>
            <a:pPr marL="0" indent="0" algn="l">
              <a:lnSpc>
                <a:spcPct val="117000"/>
              </a:lnSpc>
              <a:buNone/>
            </a:pPr>
            <a:r>
              <a:rPr lang="en-US" sz="1000" kern="100" spc="39" dirty="0">
                <a:solidFill>
                  <a:srgbClr val="C2C4B5"/>
                </a:solidFill>
                <a:latin typeface="Bitter" pitchFamily="34" charset="0"/>
                <a:ea typeface="Bitter" pitchFamily="34" charset="-122"/>
                <a:cs typeface="Bitter"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09585" y="637822"/>
            <a:ext cx="4876678" cy="446980"/>
          </a:xfrm>
          <a:prstGeom prst="rect">
            <a:avLst/>
          </a:prstGeom>
          <a:noFill/>
          <a:ln/>
        </p:spPr>
        <p:txBody>
          <a:bodyPr wrap="none" lIns="0" tIns="0" rIns="0" bIns="0" rtlCol="0" anchor="t"/>
          <a:lstStyle/>
          <a:p>
            <a:pPr marL="0" indent="0" algn="l">
              <a:lnSpc>
                <a:spcPct val="92000"/>
              </a:lnSpc>
              <a:buNone/>
            </a:pPr>
            <a:r>
              <a:rPr lang="en-US" sz="3200" b="1" dirty="0">
                <a:solidFill>
                  <a:srgbClr val="E1E5CD"/>
                </a:solidFill>
                <a:latin typeface="Outfit Bold" pitchFamily="34" charset="0"/>
                <a:ea typeface="Outfit Bold" pitchFamily="34" charset="-122"/>
                <a:cs typeface="Outfit Bold" pitchFamily="34" charset="-120"/>
              </a:rPr>
              <a:t>Conclusion</a:t>
            </a:r>
            <a:endParaRPr lang="en-US" sz="3200" dirty="0"/>
          </a:p>
        </p:txBody>
      </p:sp>
      <p:sp>
        <p:nvSpPr>
          <p:cNvPr id="3" name="Text 1"/>
          <p:cNvSpPr/>
          <p:nvPr/>
        </p:nvSpPr>
        <p:spPr>
          <a:xfrm>
            <a:off x="609585" y="1234380"/>
            <a:ext cx="4876678" cy="1402953"/>
          </a:xfrm>
          <a:prstGeom prst="rect">
            <a:avLst/>
          </a:prstGeom>
          <a:noFill/>
          <a:ln/>
        </p:spPr>
        <p:txBody>
          <a:bodyPr wrap="square" lIns="0" tIns="0" rIns="0" bIns="0" rtlCol="0" anchor="t">
            <a:normAutofit/>
          </a:bodyPr>
          <a:lstStyle/>
          <a:p>
            <a:pPr marL="0" indent="0" algn="l">
              <a:lnSpc>
                <a:spcPct val="117000"/>
              </a:lnSpc>
              <a:spcAft>
                <a:spcPts val="1200"/>
              </a:spcAft>
              <a:buNone/>
            </a:pPr>
            <a:r>
              <a:rPr lang="en-US" sz="1400" dirty="0">
                <a:solidFill>
                  <a:srgbClr val="C2C4B5"/>
                </a:solidFill>
                <a:latin typeface="Bitter" pitchFamily="34" charset="0"/>
                <a:ea typeface="Bitter" pitchFamily="34" charset="-122"/>
                <a:cs typeface="Bitter" pitchFamily="34" charset="-120"/>
              </a:rPr>
              <a:t>The Java ATM system shows how methods, arrays, object-oriented design, exceptions, collections, and file handling organize secure transaction workflows.</a:t>
            </a:r>
            <a:endParaRPr lang="en-US" sz="1400" dirty="0"/>
          </a:p>
          <a:p>
            <a:pPr marL="0" indent="0" algn="l">
              <a:lnSpc>
                <a:spcPct val="117000"/>
              </a:lnSpc>
              <a:buNone/>
            </a:pPr>
            <a:r>
              <a:rPr lang="en-US" sz="1400" dirty="0">
                <a:solidFill>
                  <a:srgbClr val="C2C4B5"/>
                </a:solidFill>
                <a:latin typeface="Bitter" pitchFamily="34" charset="0"/>
                <a:ea typeface="Bitter" pitchFamily="34" charset="-122"/>
                <a:cs typeface="Bitter" pitchFamily="34" charset="-120"/>
              </a:rPr>
              <a:t>It gives practical Java experience and a solid base to grow with a database, a GUI, and stronger authentication.</a:t>
            </a:r>
            <a:endParaRPr lang="en-US" sz="1400" dirty="0"/>
          </a:p>
        </p:txBody>
      </p:sp>
      <p:pic>
        <p:nvPicPr>
          <p:cNvPr id="4" name="Image 0" descr="preencoded.png"/>
          <p:cNvPicPr>
            <a:picLocks noChangeAspect="1"/>
          </p:cNvPicPr>
          <p:nvPr/>
        </p:nvPicPr>
        <p:blipFill>
          <a:blip r:embed="rId3"/>
          <a:stretch>
            <a:fillRect/>
          </a:stretch>
        </p:blipFill>
        <p:spPr>
          <a:xfrm>
            <a:off x="6095848" y="0"/>
            <a:ext cx="6095848" cy="6858000"/>
          </a:xfrm>
          <a:prstGeom prst="rect">
            <a:avLst/>
          </a:prstGeom>
        </p:spPr>
      </p:pic>
      <p:sp>
        <p:nvSpPr>
          <p:cNvPr id="5" name="Shape 2"/>
          <p:cNvSpPr/>
          <p:nvPr/>
        </p:nvSpPr>
        <p:spPr>
          <a:xfrm>
            <a:off x="6086323" y="0"/>
            <a:ext cx="19050" cy="6858000"/>
          </a:xfrm>
          <a:prstGeom prst="rect">
            <a:avLst/>
          </a:prstGeom>
          <a:solidFill>
            <a:srgbClr val="808080">
              <a:alpha val="35000"/>
            </a:srgbClr>
          </a:solidFill>
          <a:ln/>
        </p:spPr>
      </p:sp>
      <p:sp>
        <p:nvSpPr>
          <p:cNvPr id="6" name="Text 3"/>
          <p:cNvSpPr/>
          <p:nvPr/>
        </p:nvSpPr>
        <p:spPr>
          <a:xfrm>
            <a:off x="177895" y="6466086"/>
            <a:ext cx="742733" cy="174129"/>
          </a:xfrm>
          <a:prstGeom prst="rect">
            <a:avLst/>
          </a:prstGeom>
          <a:noFill/>
          <a:ln/>
        </p:spPr>
        <p:txBody>
          <a:bodyPr wrap="none" lIns="0" tIns="0" rIns="0" bIns="0" rtlCol="0" anchor="ctr"/>
          <a:lstStyle/>
          <a:p>
            <a:pPr marL="0" indent="0" algn="l">
              <a:lnSpc>
                <a:spcPct val="117000"/>
              </a:lnSpc>
              <a:buNone/>
            </a:pPr>
            <a:r>
              <a:rPr lang="en-US" sz="1000" kern="100" spc="39" dirty="0">
                <a:solidFill>
                  <a:srgbClr val="C2C4B5"/>
                </a:solidFill>
                <a:latin typeface="Bitter" pitchFamily="34" charset="0"/>
                <a:ea typeface="Bitter" pitchFamily="34" charset="-122"/>
                <a:cs typeface="Bitter" pitchFamily="34" charset="-120"/>
              </a:rPr>
              <a:t>14</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09585" y="2895618"/>
            <a:ext cx="10972526" cy="670520"/>
          </a:xfrm>
          <a:prstGeom prst="rect">
            <a:avLst/>
          </a:prstGeom>
          <a:noFill/>
          <a:ln/>
        </p:spPr>
        <p:txBody>
          <a:bodyPr wrap="none" lIns="0" tIns="0" rIns="0" bIns="0" rtlCol="0" anchor="t"/>
          <a:lstStyle/>
          <a:p>
            <a:pPr marL="0" indent="0" algn="l">
              <a:lnSpc>
                <a:spcPct val="92000"/>
              </a:lnSpc>
              <a:buNone/>
            </a:pPr>
            <a:r>
              <a:rPr lang="en-US" sz="4800" b="1" dirty="0">
                <a:solidFill>
                  <a:srgbClr val="E1E5CD"/>
                </a:solidFill>
                <a:latin typeface="Outfit Bold" pitchFamily="34" charset="0"/>
                <a:ea typeface="Outfit Bold" pitchFamily="34" charset="-122"/>
                <a:cs typeface="Outfit Bold" pitchFamily="34" charset="-120"/>
              </a:rPr>
              <a:t>GIT HUB LINK</a:t>
            </a:r>
            <a:endParaRPr lang="en-US" sz="4800" dirty="0"/>
          </a:p>
        </p:txBody>
      </p:sp>
      <p:sp>
        <p:nvSpPr>
          <p:cNvPr id="3" name="Text 1"/>
          <p:cNvSpPr/>
          <p:nvPr/>
        </p:nvSpPr>
        <p:spPr>
          <a:xfrm>
            <a:off x="698762" y="3755627"/>
            <a:ext cx="11582110" cy="248841"/>
          </a:xfrm>
          <a:prstGeom prst="rect">
            <a:avLst/>
          </a:prstGeom>
          <a:noFill/>
          <a:ln/>
        </p:spPr>
        <p:txBody>
          <a:bodyPr wrap="none" lIns="0" tIns="0" rIns="0" bIns="0" rtlCol="0" anchor="t"/>
          <a:lstStyle/>
          <a:p>
            <a:pPr>
              <a:lnSpc>
                <a:spcPct val="100000"/>
              </a:lnSpc>
            </a:pPr>
            <a:endParaRPr lang="en-US" sz="1400" dirty="0">
              <a:solidFill>
                <a:schemeClr val="bg1"/>
              </a:solidFill>
            </a:endParaRPr>
          </a:p>
        </p:txBody>
      </p:sp>
      <p:sp>
        <p:nvSpPr>
          <p:cNvPr id="4" name="Text 2"/>
          <p:cNvSpPr/>
          <p:nvPr/>
        </p:nvSpPr>
        <p:spPr>
          <a:xfrm>
            <a:off x="11882438" y="6466086"/>
            <a:ext cx="309257" cy="174129"/>
          </a:xfrm>
          <a:prstGeom prst="rect">
            <a:avLst/>
          </a:prstGeom>
          <a:noFill/>
          <a:ln/>
        </p:spPr>
        <p:txBody>
          <a:bodyPr wrap="none" lIns="0" tIns="0" rIns="0" bIns="0" rtlCol="0" anchor="ctr"/>
          <a:lstStyle/>
          <a:p>
            <a:pPr marL="0" indent="0" algn="l">
              <a:lnSpc>
                <a:spcPct val="117000"/>
              </a:lnSpc>
              <a:buNone/>
            </a:pPr>
            <a:r>
              <a:rPr lang="en-US" sz="1000" kern="100" spc="39" dirty="0">
                <a:solidFill>
                  <a:srgbClr val="C2C4B5"/>
                </a:solidFill>
                <a:latin typeface="Bitter" pitchFamily="34" charset="0"/>
                <a:ea typeface="Bitter" pitchFamily="34" charset="-122"/>
                <a:cs typeface="Bitter" pitchFamily="34" charset="-120"/>
              </a:rPr>
              <a:t>13</a:t>
            </a:r>
            <a:endParaRPr lang="en-US" sz="1000" dirty="0"/>
          </a:p>
        </p:txBody>
      </p:sp>
      <p:sp>
        <p:nvSpPr>
          <p:cNvPr id="7" name="TextBox 6">
            <a:extLst>
              <a:ext uri="{FF2B5EF4-FFF2-40B4-BE49-F238E27FC236}">
                <a16:creationId xmlns:a16="http://schemas.microsoft.com/office/drawing/2014/main" id="{40F48F5E-C3F2-8941-403E-B3D3664B26ED}"/>
              </a:ext>
            </a:extLst>
          </p:cNvPr>
          <p:cNvSpPr txBox="1"/>
          <p:nvPr/>
        </p:nvSpPr>
        <p:spPr>
          <a:xfrm>
            <a:off x="1564105" y="3898232"/>
            <a:ext cx="4512967" cy="369332"/>
          </a:xfrm>
          <a:prstGeom prst="rect">
            <a:avLst/>
          </a:prstGeom>
          <a:noFill/>
        </p:spPr>
        <p:txBody>
          <a:bodyPr wrap="square" rtlCol="0">
            <a:spAutoFit/>
          </a:bodyPr>
          <a:lstStyle/>
          <a:p>
            <a:r>
              <a:rPr lang="en-US" dirty="0">
                <a:highlight>
                  <a:srgbClr val="C0C0C0"/>
                </a:highlight>
              </a:rPr>
              <a:t>https://github.com/Bhargavkrishna-003/JAVA-</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736582" y="812800"/>
            <a:ext cx="7873803" cy="3219648"/>
          </a:xfrm>
          <a:prstGeom prst="roundRect">
            <a:avLst>
              <a:gd name="adj" fmla="val 828"/>
            </a:avLst>
          </a:prstGeom>
          <a:solidFill>
            <a:srgbClr val="1B2632">
              <a:alpha val="84000"/>
            </a:srgbClr>
          </a:solidFill>
          <a:ln/>
        </p:spPr>
      </p:sp>
      <p:sp>
        <p:nvSpPr>
          <p:cNvPr id="3" name="Text 1"/>
          <p:cNvSpPr/>
          <p:nvPr/>
        </p:nvSpPr>
        <p:spPr>
          <a:xfrm>
            <a:off x="1142971" y="1486793"/>
            <a:ext cx="7061023" cy="508000"/>
          </a:xfrm>
          <a:prstGeom prst="rect">
            <a:avLst/>
          </a:prstGeom>
          <a:noFill/>
          <a:ln/>
        </p:spPr>
        <p:txBody>
          <a:bodyPr wrap="none" lIns="0" tIns="0" rIns="0" bIns="0" rtlCol="0" anchor="t"/>
          <a:lstStyle/>
          <a:p>
            <a:pPr marL="0" indent="0" algn="l">
              <a:lnSpc>
                <a:spcPct val="83000"/>
              </a:lnSpc>
              <a:buNone/>
            </a:pPr>
            <a:r>
              <a:rPr lang="en-US" sz="4000" b="1" dirty="0">
                <a:solidFill>
                  <a:srgbClr val="FFFFFF"/>
                </a:solidFill>
                <a:latin typeface="Outfit Bold" pitchFamily="34" charset="0"/>
                <a:ea typeface="Outfit Bold" pitchFamily="34" charset="-122"/>
                <a:cs typeface="Outfit Bold" pitchFamily="34" charset="-120"/>
              </a:rPr>
              <a:t>Thank you</a:t>
            </a:r>
            <a:endParaRPr lang="en-US" sz="4000" dirty="0"/>
          </a:p>
        </p:txBody>
      </p:sp>
      <p:sp>
        <p:nvSpPr>
          <p:cNvPr id="4" name="Text 2"/>
          <p:cNvSpPr/>
          <p:nvPr/>
        </p:nvSpPr>
        <p:spPr>
          <a:xfrm>
            <a:off x="1142971" y="2129676"/>
            <a:ext cx="2150413" cy="237430"/>
          </a:xfrm>
          <a:prstGeom prst="rect">
            <a:avLst/>
          </a:prstGeom>
          <a:noFill/>
          <a:ln/>
        </p:spPr>
        <p:txBody>
          <a:bodyPr wrap="none" lIns="0" tIns="0" rIns="0" bIns="0" rtlCol="0" anchor="t"/>
          <a:lstStyle/>
          <a:p>
            <a:pPr marL="0" indent="0" algn="l">
              <a:lnSpc>
                <a:spcPct val="92000"/>
              </a:lnSpc>
              <a:buNone/>
            </a:pPr>
            <a:r>
              <a:rPr lang="en-US" sz="1700" b="1" dirty="0">
                <a:solidFill>
                  <a:srgbClr val="FFFFFF"/>
                </a:solidFill>
                <a:latin typeface="Outfit Bold" pitchFamily="34" charset="0"/>
                <a:ea typeface="Outfit Bold" pitchFamily="34" charset="-122"/>
                <a:cs typeface="Outfit Bold" pitchFamily="34" charset="-120"/>
              </a:rPr>
              <a:t>Validate</a:t>
            </a:r>
            <a:endParaRPr lang="en-US" sz="1700" dirty="0"/>
          </a:p>
        </p:txBody>
      </p:sp>
      <p:sp>
        <p:nvSpPr>
          <p:cNvPr id="5" name="Text 3"/>
          <p:cNvSpPr/>
          <p:nvPr/>
        </p:nvSpPr>
        <p:spPr>
          <a:xfrm>
            <a:off x="1142971" y="2478286"/>
            <a:ext cx="2150413" cy="497681"/>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FFFFFF"/>
                </a:solidFill>
                <a:latin typeface="Bitter" pitchFamily="34" charset="0"/>
                <a:ea typeface="Bitter" pitchFamily="34" charset="-122"/>
                <a:cs typeface="Bitter" pitchFamily="34" charset="-120"/>
              </a:rPr>
              <a:t>Input and account behavior.</a:t>
            </a:r>
            <a:endParaRPr lang="en-US" sz="1400" dirty="0"/>
          </a:p>
        </p:txBody>
      </p:sp>
      <p:sp>
        <p:nvSpPr>
          <p:cNvPr id="6" name="Text 4"/>
          <p:cNvSpPr/>
          <p:nvPr/>
        </p:nvSpPr>
        <p:spPr>
          <a:xfrm>
            <a:off x="3598177" y="2129676"/>
            <a:ext cx="2150513" cy="237430"/>
          </a:xfrm>
          <a:prstGeom prst="rect">
            <a:avLst/>
          </a:prstGeom>
          <a:noFill/>
          <a:ln/>
        </p:spPr>
        <p:txBody>
          <a:bodyPr wrap="none" lIns="0" tIns="0" rIns="0" bIns="0" rtlCol="0" anchor="t"/>
          <a:lstStyle/>
          <a:p>
            <a:pPr marL="0" indent="0" algn="l">
              <a:lnSpc>
                <a:spcPct val="92000"/>
              </a:lnSpc>
              <a:buNone/>
            </a:pPr>
            <a:r>
              <a:rPr lang="en-US" sz="1700" b="1" dirty="0">
                <a:solidFill>
                  <a:srgbClr val="FFFFFF"/>
                </a:solidFill>
                <a:latin typeface="Outfit Bold" pitchFamily="34" charset="0"/>
                <a:ea typeface="Outfit Bold" pitchFamily="34" charset="-122"/>
                <a:cs typeface="Outfit Bold" pitchFamily="34" charset="-120"/>
              </a:rPr>
              <a:t>Organize</a:t>
            </a:r>
            <a:endParaRPr lang="en-US" sz="1700" dirty="0"/>
          </a:p>
        </p:txBody>
      </p:sp>
      <p:sp>
        <p:nvSpPr>
          <p:cNvPr id="7" name="Text 5"/>
          <p:cNvSpPr/>
          <p:nvPr/>
        </p:nvSpPr>
        <p:spPr>
          <a:xfrm>
            <a:off x="3598177" y="2478286"/>
            <a:ext cx="2150513" cy="746522"/>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FFFFFF"/>
                </a:solidFill>
                <a:latin typeface="Bitter" pitchFamily="34" charset="0"/>
                <a:ea typeface="Bitter" pitchFamily="34" charset="-122"/>
                <a:cs typeface="Bitter" pitchFamily="34" charset="-120"/>
              </a:rPr>
              <a:t>Arrays, methods, inheritance, and exceptions.</a:t>
            </a:r>
            <a:endParaRPr lang="en-US" sz="1400" dirty="0"/>
          </a:p>
        </p:txBody>
      </p:sp>
      <p:sp>
        <p:nvSpPr>
          <p:cNvPr id="8" name="Text 6"/>
          <p:cNvSpPr/>
          <p:nvPr/>
        </p:nvSpPr>
        <p:spPr>
          <a:xfrm>
            <a:off x="6053482" y="2129676"/>
            <a:ext cx="2150413" cy="237430"/>
          </a:xfrm>
          <a:prstGeom prst="rect">
            <a:avLst/>
          </a:prstGeom>
          <a:noFill/>
          <a:ln/>
        </p:spPr>
        <p:txBody>
          <a:bodyPr wrap="none" lIns="0" tIns="0" rIns="0" bIns="0" rtlCol="0" anchor="t"/>
          <a:lstStyle/>
          <a:p>
            <a:pPr marL="0" indent="0" algn="l">
              <a:lnSpc>
                <a:spcPct val="92000"/>
              </a:lnSpc>
              <a:buNone/>
            </a:pPr>
            <a:r>
              <a:rPr lang="en-US" sz="1700" b="1" dirty="0">
                <a:solidFill>
                  <a:srgbClr val="FFFFFF"/>
                </a:solidFill>
                <a:latin typeface="Outfit Bold" pitchFamily="34" charset="0"/>
                <a:ea typeface="Outfit Bold" pitchFamily="34" charset="-122"/>
                <a:cs typeface="Outfit Bold" pitchFamily="34" charset="-120"/>
              </a:rPr>
              <a:t>Manage</a:t>
            </a:r>
            <a:endParaRPr lang="en-US" sz="1700" dirty="0"/>
          </a:p>
        </p:txBody>
      </p:sp>
      <p:sp>
        <p:nvSpPr>
          <p:cNvPr id="9" name="Text 7"/>
          <p:cNvSpPr/>
          <p:nvPr/>
        </p:nvSpPr>
        <p:spPr>
          <a:xfrm>
            <a:off x="6053482" y="2478286"/>
            <a:ext cx="2150413" cy="497681"/>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FFFFFF"/>
                </a:solidFill>
                <a:latin typeface="Bitter" pitchFamily="34" charset="0"/>
                <a:ea typeface="Bitter" pitchFamily="34" charset="-122"/>
                <a:cs typeface="Bitter" pitchFamily="34" charset="-120"/>
              </a:rPr>
              <a:t>Collections and file handling.</a:t>
            </a:r>
            <a:endParaRPr lang="en-US" sz="1400" dirty="0"/>
          </a:p>
        </p:txBody>
      </p:sp>
      <p:sp>
        <p:nvSpPr>
          <p:cNvPr id="10" name="Text 8"/>
          <p:cNvSpPr/>
          <p:nvPr/>
        </p:nvSpPr>
        <p:spPr>
          <a:xfrm>
            <a:off x="1142971" y="3428008"/>
            <a:ext cx="7670608" cy="248841"/>
          </a:xfrm>
          <a:prstGeom prst="rect">
            <a:avLst/>
          </a:prstGeom>
          <a:noFill/>
          <a:ln/>
        </p:spPr>
        <p:txBody>
          <a:bodyPr wrap="none" lIns="0" tIns="0" rIns="0" bIns="0" rtlCol="0" anchor="t"/>
          <a:lstStyle/>
          <a:p>
            <a:pPr marL="0" indent="0" algn="l">
              <a:lnSpc>
                <a:spcPct val="117000"/>
              </a:lnSpc>
              <a:buNone/>
            </a:pPr>
            <a:r>
              <a:rPr lang="en-US" sz="1400" dirty="0">
                <a:solidFill>
                  <a:srgbClr val="FFFFFF"/>
                </a:solidFill>
                <a:latin typeface="Bitter" pitchFamily="34" charset="0"/>
                <a:ea typeface="Bitter" pitchFamily="34" charset="-122"/>
                <a:cs typeface="Bitter" pitchFamily="34" charset="-120"/>
              </a:rPr>
              <a:t>From Group 6</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TotalTime>
  <Words>1444</Words>
  <Application>Microsoft Office PowerPoint</Application>
  <PresentationFormat>Widescreen</PresentationFormat>
  <Paragraphs>209</Paragraphs>
  <Slides>15</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Bitter</vt:lpstr>
      <vt:lpstr>Consolas</vt:lpstr>
      <vt:lpstr>Outfit Bold</vt:lpstr>
      <vt:lpstr>Arial</vt:lpstr>
      <vt:lpstr>Bitter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HARSHA</dc:creator>
  <cp:lastModifiedBy>ANIL DATLA</cp:lastModifiedBy>
  <cp:revision>7</cp:revision>
  <dcterms:created xsi:type="dcterms:W3CDTF">2026-10-16T03:49:05Z</dcterms:created>
  <dcterms:modified xsi:type="dcterms:W3CDTF">2026-10-16T08:33:53Z</dcterms:modified>
</cp:coreProperties>
</file>